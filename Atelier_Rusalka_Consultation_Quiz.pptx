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86000"/>
            <a:ext cx="12188952" cy="2194560"/>
          </a:xfrm>
          <a:prstGeom prst="rect">
            <a:avLst/>
          </a:prstGeom>
          <a:solidFill>
            <a:srgbClr val="C8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54864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Georgia"/>
              </a:rPr>
              <a:t>Atelier Rusalka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BBBBBB"/>
                </a:solidFill>
                <a:latin typeface="Calibri"/>
              </a:rPr>
              <a:t>Online Consultation Quiz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423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1C1C1C"/>
                </a:solidFill>
                <a:latin typeface="Calibri"/>
              </a:rPr>
              <a:t>Functional Requirements Specification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1089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C1C1C"/>
                </a:solidFill>
                <a:latin typeface="Calibri"/>
              </a:rPr>
              <a:t>30 Questions  ·  3 Sections  ·  Personalized Product Recommendation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43891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8E8E8"/>
                </a:solidFill>
                <a:latin typeface="Calibri"/>
              </a:rPr>
              <a:t>Purpose: This deck defines each quiz question, its UI type, answer options,
"Why We Ask" copy, and the backend recommendation logic for the IT developer.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62179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BBBBB"/>
                </a:solidFill>
                <a:latin typeface="Calibri"/>
              </a:rPr>
              <a:t>Atelier Rusalka  ·  Confidential  ·  March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QUIZ STRUCTURE 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914400"/>
            <a:ext cx="11430000" cy="1463040"/>
          </a:xfrm>
          <a:prstGeom prst="rect">
            <a:avLst/>
          </a:prstGeom>
          <a:noFill/>
          <a:ln w="19050">
            <a:solidFill>
              <a:srgbClr val="6B5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914400"/>
            <a:ext cx="73152" cy="1463040"/>
          </a:xfrm>
          <a:prstGeom prst="rect">
            <a:avLst/>
          </a:prstGeom>
          <a:solidFill>
            <a:srgbClr val="6B5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98755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B5B8A"/>
                </a:solidFill>
                <a:latin typeface="Calibri"/>
              </a:rPr>
              <a:t>Section 1: About You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98755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555555"/>
                </a:solidFill>
                <a:latin typeface="Calibri"/>
              </a:rPr>
              <a:t>Q1–Q10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29844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Calibri"/>
              </a:rPr>
              <a:t>Demographics, lifestyle, environment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62763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C1C1C"/>
                </a:solidFill>
                <a:latin typeface="Calibri"/>
              </a:rPr>
              <a:t>Establishes the user's baseline profile: age, location, diet, stress, sun exposure. These factors influence skin health independently of skin type.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560320"/>
            <a:ext cx="11430000" cy="1463040"/>
          </a:xfrm>
          <a:prstGeom prst="rect">
            <a:avLst/>
          </a:prstGeom>
          <a:noFill/>
          <a:ln w="19050">
            <a:solidFill>
              <a:srgbClr val="1A5F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2560320"/>
            <a:ext cx="73152" cy="1463040"/>
          </a:xfrm>
          <a:prstGeom prst="rect">
            <a:avLst/>
          </a:prstGeom>
          <a:solidFill>
            <a:srgbClr val="1A5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63347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5F7A"/>
                </a:solidFill>
                <a:latin typeface="Calibri"/>
              </a:rPr>
              <a:t>Section 2: Your Skin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0" y="263347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555555"/>
                </a:solidFill>
                <a:latin typeface="Calibri"/>
              </a:rPr>
              <a:t>Q11–Q20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94436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Calibri"/>
              </a:rPr>
              <a:t>Skin type, concerns, conditions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27355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C1C1C"/>
                </a:solidFill>
                <a:latin typeface="Calibri"/>
              </a:rPr>
              <a:t>Deep-dive into the user's skin: type classification, primary/secondary concerns, sensitivity level, skin tone, conditions. This is the PRIMARY routing layer.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4206240"/>
            <a:ext cx="11430000" cy="1463040"/>
          </a:xfrm>
          <a:prstGeom prst="rect">
            <a:avLst/>
          </a:prstGeom>
          <a:noFill/>
          <a:ln w="19050">
            <a:solidFill>
              <a:srgbClr val="4A7C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5760" y="4206240"/>
            <a:ext cx="73152" cy="1463040"/>
          </a:xfrm>
          <a:prstGeom prst="rect">
            <a:avLst/>
          </a:prstGeom>
          <a:solidFill>
            <a:srgbClr val="4A7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27939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A7C4E"/>
                </a:solidFill>
                <a:latin typeface="Calibri"/>
              </a:rPr>
              <a:t>Section 3: Your Routine &amp; Preferences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0" y="427939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555555"/>
                </a:solidFill>
                <a:latin typeface="Calibri"/>
              </a:rPr>
              <a:t>Q21–Q30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59028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Calibri"/>
              </a:rPr>
              <a:t>Product preferences, values, exclusions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491947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C1C1C"/>
                </a:solidFill>
                <a:latin typeface="Calibri"/>
              </a:rPr>
              <a:t>Captures texture/format preferences, routine complexity, ingredient philosophy, retinol experience, and hard exclusions. This is the FILTER &amp; PERSONALISATION layer.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0350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555555"/>
                </a:solidFill>
                <a:latin typeface="Calibri"/>
              </a:rPr>
              <a:t>Question Types Used:  Single Select  ·  Multi-Select  ·  Scale (1–5)  ·  Multi-Scale Grid  ·  Yes/No  ·  Drag &amp; Rank  ·  Free Text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6B5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Calibri"/>
              </a:rPr>
              <a:t>SECTION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4688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Georgia"/>
              </a:rPr>
              <a:t>About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383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DDDDDD"/>
                </a:solidFill>
                <a:latin typeface="Calibri"/>
              </a:rPr>
              <a:t>Demographics, lifestyle &amp; environment  ·  10 questions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6B5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0972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SECTION 1 — ABOUT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60152" y="109728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  <a:latin typeface="Calibri"/>
              </a:rPr>
              <a:t>Q1 of 30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658368"/>
            <a:ext cx="1645920" cy="256032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676656"/>
            <a:ext cx="15544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555555"/>
                </a:solidFill>
                <a:latin typeface="Calibri"/>
              </a:rPr>
              <a:t>UI: Single Select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03120" y="658368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B5B8A"/>
                </a:solidFill>
                <a:latin typeface="Calibri"/>
              </a:rPr>
              <a:t>Q1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1051560"/>
            <a:ext cx="7498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C1C1C"/>
                </a:solidFill>
                <a:latin typeface="Georgia"/>
              </a:rPr>
              <a:t>How old are you?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600200"/>
            <a:ext cx="5029200" cy="329184"/>
          </a:xfrm>
          <a:prstGeom prst="rect">
            <a:avLst/>
          </a:prstGeom>
          <a:solidFill>
            <a:srgbClr val="F5F3EF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8" y="1655064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C1C1C"/>
                </a:solidFill>
                <a:latin typeface="Calibri"/>
              </a:rPr>
              <a:t>○  Under 25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984248"/>
            <a:ext cx="5029200" cy="329184"/>
          </a:xfrm>
          <a:prstGeom prst="rect">
            <a:avLst/>
          </a:prstGeom>
          <a:solidFill>
            <a:srgbClr val="F5F3EF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048" y="2039112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C1C1C"/>
                </a:solidFill>
                <a:latin typeface="Calibri"/>
              </a:rPr>
              <a:t>○  25–34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2368296"/>
            <a:ext cx="5029200" cy="329184"/>
          </a:xfrm>
          <a:prstGeom prst="rect">
            <a:avLst/>
          </a:prstGeom>
          <a:solidFill>
            <a:srgbClr val="F5F3EF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4048" y="2423160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C1C1C"/>
                </a:solidFill>
                <a:latin typeface="Calibri"/>
              </a:rPr>
              <a:t>○  35–44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2752344"/>
            <a:ext cx="5029200" cy="329184"/>
          </a:xfrm>
          <a:prstGeom prst="rect">
            <a:avLst/>
          </a:prstGeom>
          <a:solidFill>
            <a:srgbClr val="F5F3EF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4048" y="2807208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C1C1C"/>
                </a:solidFill>
                <a:latin typeface="Calibri"/>
              </a:rPr>
              <a:t>○  45–54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3136391"/>
            <a:ext cx="5029200" cy="329184"/>
          </a:xfrm>
          <a:prstGeom prst="rect">
            <a:avLst/>
          </a:prstGeom>
          <a:solidFill>
            <a:srgbClr val="F5F3EF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84048" y="3191256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C1C1C"/>
                </a:solidFill>
                <a:latin typeface="Calibri"/>
              </a:rPr>
              <a:t>○  55–64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3520440"/>
            <a:ext cx="5029200" cy="329184"/>
          </a:xfrm>
          <a:prstGeom prst="rect">
            <a:avLst/>
          </a:prstGeom>
          <a:solidFill>
            <a:srgbClr val="F5F3EF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84048" y="3575304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C1C1C"/>
                </a:solidFill>
                <a:latin typeface="Calibri"/>
              </a:rPr>
              <a:t>○  65+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0" y="1051560"/>
            <a:ext cx="6245352" cy="274320"/>
          </a:xfrm>
          <a:prstGeom prst="rect">
            <a:avLst/>
          </a:prstGeom>
          <a:solidFill>
            <a:srgbClr val="6B5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760720" y="1097280"/>
            <a:ext cx="60624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+ Why We Ask: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0" y="1371600"/>
            <a:ext cx="6245352" cy="795528"/>
          </a:xfrm>
          <a:prstGeom prst="rect">
            <a:avLst/>
          </a:prstGeom>
          <a:solidFill>
            <a:srgbClr val="F8F6F2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760720" y="1426464"/>
            <a:ext cx="6062472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C1C1C"/>
                </a:solidFill>
                <a:latin typeface="Calibri"/>
              </a:rPr>
              <a:t>Skin physiology changes with age — sebum production, collagen turnover, and hydration levels shift significantly across decades. This helps us select age-appropriate actives (e.g. peptides for 40+, gentle BHAs for younger skin).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0" y="2304288"/>
            <a:ext cx="6245352" cy="256032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760720" y="2340864"/>
            <a:ext cx="60624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8A84B"/>
                </a:solidFill>
                <a:latin typeface="Calibri"/>
              </a:rPr>
              <a:t>RECOMMENDATION LOGIC (for developer):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669280" y="2596896"/>
            <a:ext cx="6245352" cy="619179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760720" y="2651760"/>
            <a:ext cx="6062472" cy="5277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CCCCC"/>
                </a:solidFill>
                <a:latin typeface="Calibri"/>
              </a:rPr>
              <a:t>Maps to age-adjusted formula selection. Under 25 → lighter formulations; 45+ → anti-aging actives like retinol, peptides, ceramides.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74320" y="658368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BBBBBB"/>
                </a:solidFill>
                <a:latin typeface="Calibri"/>
              </a:rPr>
              <a:t>Atelier Rusalka  ·  Consultation Quiz  ·  Q1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02952" y="658368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BBBBBB"/>
                </a:solidFill>
                <a:latin typeface="Calibri"/>
              </a:rPr>
              <a:t>Page 3 of 35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6B5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0972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SECTION 1 — ABOUT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60152" y="109728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  <a:latin typeface="Calibri"/>
              </a:rPr>
              <a:t>Q2 of 30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658368"/>
            <a:ext cx="1645920" cy="256032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676656"/>
            <a:ext cx="15544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555555"/>
                </a:solidFill>
                <a:latin typeface="Calibri"/>
              </a:rPr>
              <a:t>UI: Single Select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03120" y="658368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B5B8A"/>
                </a:solidFill>
                <a:latin typeface="Calibri"/>
              </a:rPr>
              <a:t>Q2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1051560"/>
            <a:ext cx="7498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C1C1C"/>
                </a:solidFill>
                <a:latin typeface="Georgia"/>
              </a:rPr>
              <a:t>What is your biological sex?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1554480"/>
            <a:ext cx="74980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Calibri"/>
              </a:rPr>
              <a:t>This helps us account for hormonal differences that affect skin.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874519"/>
            <a:ext cx="5029200" cy="329184"/>
          </a:xfrm>
          <a:prstGeom prst="rect">
            <a:avLst/>
          </a:prstGeom>
          <a:solidFill>
            <a:srgbClr val="F5F3EF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4048" y="1929384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C1C1C"/>
                </a:solidFill>
                <a:latin typeface="Calibri"/>
              </a:rPr>
              <a:t>○  Female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2258568"/>
            <a:ext cx="5029200" cy="329184"/>
          </a:xfrm>
          <a:prstGeom prst="rect">
            <a:avLst/>
          </a:prstGeom>
          <a:solidFill>
            <a:srgbClr val="F5F3EF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4048" y="2313432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C1C1C"/>
                </a:solidFill>
                <a:latin typeface="Calibri"/>
              </a:rPr>
              <a:t>○  Male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2642615"/>
            <a:ext cx="5029200" cy="329184"/>
          </a:xfrm>
          <a:prstGeom prst="rect">
            <a:avLst/>
          </a:prstGeom>
          <a:solidFill>
            <a:srgbClr val="F5F3EF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4048" y="2697479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C1C1C"/>
                </a:solidFill>
                <a:latin typeface="Calibri"/>
              </a:rPr>
              <a:t>○  Prefer not to say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0" y="1051560"/>
            <a:ext cx="6245352" cy="274320"/>
          </a:xfrm>
          <a:prstGeom prst="rect">
            <a:avLst/>
          </a:prstGeom>
          <a:solidFill>
            <a:srgbClr val="6B5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760720" y="1097280"/>
            <a:ext cx="60624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+ Why We Ask: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0" y="1371600"/>
            <a:ext cx="6245352" cy="672084"/>
          </a:xfrm>
          <a:prstGeom prst="rect">
            <a:avLst/>
          </a:prstGeom>
          <a:solidFill>
            <a:srgbClr val="F8F6F2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60720" y="1426464"/>
            <a:ext cx="6062472" cy="5806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C1C1C"/>
                </a:solidFill>
                <a:latin typeface="Calibri"/>
              </a:rPr>
              <a:t>Hormonal profiles differ between biological sexes, influencing sebum production, skin thickness, and sensitivity patterns. We use this to fine-tune ingredient concentrations.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0" y="2180844"/>
            <a:ext cx="6245352" cy="256032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0720" y="2217420"/>
            <a:ext cx="60624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8A84B"/>
                </a:solidFill>
                <a:latin typeface="Calibri"/>
              </a:rPr>
              <a:t>RECOMMENDATION LOGIC (for developer):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0" y="2473451"/>
            <a:ext cx="6245352" cy="634854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60720" y="2528315"/>
            <a:ext cx="6062472" cy="5434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CCCCC"/>
                </a:solidFill>
                <a:latin typeface="Calibri"/>
              </a:rPr>
              <a:t>Male skin tends to be thicker, oilier → higher active concentrations tolerated. Female skin may be more reactive to hormonal fluctuations.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4320" y="658368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BBBBBB"/>
                </a:solidFill>
                <a:latin typeface="Calibri"/>
              </a:rPr>
              <a:t>Atelier Rusalka  ·  Consultation Quiz  ·  Q2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02952" y="658368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BBBBBB"/>
                </a:solidFill>
                <a:latin typeface="Calibri"/>
              </a:rPr>
              <a:t>Page 4 of 35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6B5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0972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SECTION 1 — ABOUT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60152" y="109728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  <a:latin typeface="Calibri"/>
              </a:rPr>
              <a:t>Q3 of 30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658368"/>
            <a:ext cx="1645920" cy="256032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676656"/>
            <a:ext cx="15544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555555"/>
                </a:solidFill>
                <a:latin typeface="Calibri"/>
              </a:rPr>
              <a:t>UI: Single Select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03120" y="658368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B5B8A"/>
                </a:solidFill>
                <a:latin typeface="Calibri"/>
              </a:rPr>
              <a:t>Q3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1051560"/>
            <a:ext cx="7498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C1C1C"/>
                </a:solidFill>
                <a:latin typeface="Georgia"/>
              </a:rPr>
              <a:t>Where do you live?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1554480"/>
            <a:ext cx="74980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Calibri"/>
              </a:rPr>
              <a:t>Your environment impacts your skin more than you think.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874519"/>
            <a:ext cx="5029200" cy="329184"/>
          </a:xfrm>
          <a:prstGeom prst="rect">
            <a:avLst/>
          </a:prstGeom>
          <a:solidFill>
            <a:srgbClr val="F5F3EF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4048" y="1929384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C1C1C"/>
                </a:solidFill>
                <a:latin typeface="Calibri"/>
              </a:rPr>
              <a:t>○  Northern Europe (Scandinavia, Baltics, UK, Ireland)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2258568"/>
            <a:ext cx="5029200" cy="329184"/>
          </a:xfrm>
          <a:prstGeom prst="rect">
            <a:avLst/>
          </a:prstGeom>
          <a:solidFill>
            <a:srgbClr val="F5F3EF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4048" y="2313432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C1C1C"/>
                </a:solidFill>
                <a:latin typeface="Calibri"/>
              </a:rPr>
              <a:t>○  Central Europe (Germany, Poland, Czech Rep., Austria, Switzerland)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2642615"/>
            <a:ext cx="5029200" cy="329184"/>
          </a:xfrm>
          <a:prstGeom prst="rect">
            <a:avLst/>
          </a:prstGeom>
          <a:solidFill>
            <a:srgbClr val="F5F3EF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4048" y="2697479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C1C1C"/>
                </a:solidFill>
                <a:latin typeface="Calibri"/>
              </a:rPr>
              <a:t>○  Southern Europe (Mediterranean, Balkans)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3026663"/>
            <a:ext cx="5029200" cy="329184"/>
          </a:xfrm>
          <a:prstGeom prst="rect">
            <a:avLst/>
          </a:prstGeom>
          <a:solidFill>
            <a:srgbClr val="F5F3EF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84048" y="3081527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C1C1C"/>
                </a:solidFill>
                <a:latin typeface="Calibri"/>
              </a:rPr>
              <a:t>○  Eastern Europe (Romania, Bulgaria, Ukraine, Russia)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3410711"/>
            <a:ext cx="5029200" cy="329184"/>
          </a:xfrm>
          <a:prstGeom prst="rect">
            <a:avLst/>
          </a:prstGeom>
          <a:solidFill>
            <a:srgbClr val="F5F3EF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84048" y="3465575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C1C1C"/>
                </a:solidFill>
                <a:latin typeface="Calibri"/>
              </a:rPr>
              <a:t>○  North America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3794760"/>
            <a:ext cx="5029200" cy="329184"/>
          </a:xfrm>
          <a:prstGeom prst="rect">
            <a:avLst/>
          </a:prstGeom>
          <a:solidFill>
            <a:srgbClr val="F5F3EF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4048" y="3849624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C1C1C"/>
                </a:solidFill>
                <a:latin typeface="Calibri"/>
              </a:rPr>
              <a:t>○  Asia / Middle East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4178808"/>
            <a:ext cx="5029200" cy="329184"/>
          </a:xfrm>
          <a:prstGeom prst="rect">
            <a:avLst/>
          </a:prstGeom>
          <a:solidFill>
            <a:srgbClr val="F5F3EF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84048" y="4233672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C1C1C"/>
                </a:solidFill>
                <a:latin typeface="Calibri"/>
              </a:rPr>
              <a:t>○  Other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69280" y="1051560"/>
            <a:ext cx="6245352" cy="274320"/>
          </a:xfrm>
          <a:prstGeom prst="rect">
            <a:avLst/>
          </a:prstGeom>
          <a:solidFill>
            <a:srgbClr val="6B5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760720" y="1097280"/>
            <a:ext cx="60624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+ Why We Ask: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669280" y="1371600"/>
            <a:ext cx="6245352" cy="578358"/>
          </a:xfrm>
          <a:prstGeom prst="rect">
            <a:avLst/>
          </a:prstGeom>
          <a:solidFill>
            <a:srgbClr val="F8F6F2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760720" y="1426464"/>
            <a:ext cx="6062472" cy="4869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C1C1C"/>
                </a:solidFill>
                <a:latin typeface="Calibri"/>
              </a:rPr>
              <a:t>Climate, UV index, humidity, and water hardness vary by region and directly affect skin hydration, barrier function, and aging speed.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69280" y="2087118"/>
            <a:ext cx="6245352" cy="256032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760720" y="2123694"/>
            <a:ext cx="60624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8A84B"/>
                </a:solidFill>
                <a:latin typeface="Calibri"/>
              </a:rPr>
              <a:t>RECOMMENDATION LOGIC (for developer):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669280" y="2379726"/>
            <a:ext cx="6245352" cy="64008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760720" y="2434590"/>
            <a:ext cx="60624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CCCCC"/>
                </a:solidFill>
                <a:latin typeface="Calibri"/>
              </a:rPr>
              <a:t>Cold/dry climates → richer formulations, barrier-focused. Mediterranean → lighter textures, UV-repair focus. Urban → anti-pollution actives.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4320" y="658368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BBBBBB"/>
                </a:solidFill>
                <a:latin typeface="Calibri"/>
              </a:rPr>
              <a:t>Atelier Rusalka  ·  Consultation Quiz  ·  Q3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02952" y="658368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BBBBBB"/>
                </a:solidFill>
                <a:latin typeface="Calibri"/>
              </a:rPr>
              <a:t>Page 5 of 35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6B5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0972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SECTION 1 — ABOUT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60152" y="109728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  <a:latin typeface="Calibri"/>
              </a:rPr>
              <a:t>Q4 of 30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658368"/>
            <a:ext cx="1645920" cy="256032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676656"/>
            <a:ext cx="15544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555555"/>
                </a:solidFill>
                <a:latin typeface="Calibri"/>
              </a:rPr>
              <a:t>UI: Single Select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03120" y="658368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B5B8A"/>
                </a:solidFill>
                <a:latin typeface="Calibri"/>
              </a:rPr>
              <a:t>Q4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1051560"/>
            <a:ext cx="7498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C1C1C"/>
                </a:solidFill>
                <a:latin typeface="Georgia"/>
              </a:rPr>
              <a:t>How would you describe your environment?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600200"/>
            <a:ext cx="5029200" cy="329184"/>
          </a:xfrm>
          <a:prstGeom prst="rect">
            <a:avLst/>
          </a:prstGeom>
          <a:solidFill>
            <a:srgbClr val="F5F3EF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8" y="1655064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C1C1C"/>
                </a:solidFill>
                <a:latin typeface="Calibri"/>
              </a:rPr>
              <a:t>○  Urban / City centre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984248"/>
            <a:ext cx="5029200" cy="329184"/>
          </a:xfrm>
          <a:prstGeom prst="rect">
            <a:avLst/>
          </a:prstGeom>
          <a:solidFill>
            <a:srgbClr val="F5F3EF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048" y="2039112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C1C1C"/>
                </a:solidFill>
                <a:latin typeface="Calibri"/>
              </a:rPr>
              <a:t>○  Suburban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2368296"/>
            <a:ext cx="5029200" cy="329184"/>
          </a:xfrm>
          <a:prstGeom prst="rect">
            <a:avLst/>
          </a:prstGeom>
          <a:solidFill>
            <a:srgbClr val="F5F3EF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4048" y="2423160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C1C1C"/>
                </a:solidFill>
                <a:latin typeface="Calibri"/>
              </a:rPr>
              <a:t>○  Rural / Countryside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0" y="1051560"/>
            <a:ext cx="6245352" cy="274320"/>
          </a:xfrm>
          <a:prstGeom prst="rect">
            <a:avLst/>
          </a:prstGeom>
          <a:solidFill>
            <a:srgbClr val="6B5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760720" y="1097280"/>
            <a:ext cx="60624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+ Why We Ask: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0" y="1371600"/>
            <a:ext cx="6245352" cy="640080"/>
          </a:xfrm>
          <a:prstGeom prst="rect">
            <a:avLst/>
          </a:prstGeom>
          <a:solidFill>
            <a:srgbClr val="F8F6F2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60720" y="1426464"/>
            <a:ext cx="60624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C1C1C"/>
                </a:solidFill>
                <a:latin typeface="Calibri"/>
              </a:rPr>
              <a:t>Urban environments expose skin to higher levels of pollution, particulate matter, and blue light — all of which accelerate oxidative stress and premature aging.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0" y="2148840"/>
            <a:ext cx="6245352" cy="256032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60720" y="2185416"/>
            <a:ext cx="60624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8A84B"/>
                </a:solidFill>
                <a:latin typeface="Calibri"/>
              </a:rPr>
              <a:t>RECOMMENDATION LOGIC (for developer):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0" y="2441448"/>
            <a:ext cx="6245352" cy="634854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760720" y="2496312"/>
            <a:ext cx="6062472" cy="5434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CCCCC"/>
                </a:solidFill>
                <a:latin typeface="Calibri"/>
              </a:rPr>
              <a:t>Urban → formulas with antioxidant actives (resveratrol, vitamin C, green tea). Rural → focus on climate-driven needs (hydration, barrier).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74320" y="658368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BBBBBB"/>
                </a:solidFill>
                <a:latin typeface="Calibri"/>
              </a:rPr>
              <a:t>Atelier Rusalka  ·  Consultation Quiz  ·  Q4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02952" y="658368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BBBBBB"/>
                </a:solidFill>
                <a:latin typeface="Calibri"/>
              </a:rPr>
              <a:t>Page 6 of 35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6B5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0972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SECTION 1 — ABOUT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60152" y="109728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  <a:latin typeface="Calibri"/>
              </a:rPr>
              <a:t>Q5 of 30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658368"/>
            <a:ext cx="1645920" cy="256032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676656"/>
            <a:ext cx="15544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555555"/>
                </a:solidFill>
                <a:latin typeface="Calibri"/>
              </a:rPr>
              <a:t>UI: Scale (1–5)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03120" y="658368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B5B8A"/>
                </a:solidFill>
                <a:latin typeface="Calibri"/>
              </a:rPr>
              <a:t>Q5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1051560"/>
            <a:ext cx="7498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C1C1C"/>
                </a:solidFill>
                <a:latin typeface="Georgia"/>
              </a:rPr>
              <a:t>How much water do you drink daily?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947672"/>
            <a:ext cx="4480560" cy="36576"/>
          </a:xfrm>
          <a:prstGeom prst="rect">
            <a:avLst/>
          </a:prstGeom>
          <a:solidFill>
            <a:srgbClr val="BBB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874519"/>
            <a:ext cx="182880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1C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577340" y="1874519"/>
            <a:ext cx="182880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1C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697480" y="1874519"/>
            <a:ext cx="182880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1C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817620" y="1874519"/>
            <a:ext cx="182880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1C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937760" y="1874519"/>
            <a:ext cx="182880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1C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148839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  <a:latin typeface="Calibri"/>
              </a:rPr>
              <a:t>Less than 1L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31720" y="2148839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555555"/>
                </a:solidFill>
                <a:latin typeface="Calibri"/>
              </a:rPr>
              <a:t>~1.5L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31920" y="2148839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555555"/>
                </a:solidFill>
                <a:latin typeface="Calibri"/>
              </a:rPr>
              <a:t>2L+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0" y="1051560"/>
            <a:ext cx="6245352" cy="274320"/>
          </a:xfrm>
          <a:prstGeom prst="rect">
            <a:avLst/>
          </a:prstGeom>
          <a:solidFill>
            <a:srgbClr val="6B5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60720" y="1097280"/>
            <a:ext cx="60624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+ Why We Ask: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0" y="1371600"/>
            <a:ext cx="6245352" cy="594360"/>
          </a:xfrm>
          <a:prstGeom prst="rect">
            <a:avLst/>
          </a:prstGeom>
          <a:solidFill>
            <a:srgbClr val="F8F6F2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0720" y="1426464"/>
            <a:ext cx="60624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C1C1C"/>
                </a:solidFill>
                <a:latin typeface="Calibri"/>
              </a:rPr>
              <a:t>Internal hydration is the foundation of skin health. Chronic low water intake leads to dull, dehydrated skin regardless of topical products.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0" y="2103120"/>
            <a:ext cx="6245352" cy="256032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60720" y="2139696"/>
            <a:ext cx="60624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8A84B"/>
                </a:solidFill>
                <a:latin typeface="Calibri"/>
              </a:rPr>
              <a:t>RECOMMENDATION LOGIC (for developer):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69280" y="2395727"/>
            <a:ext cx="6245352" cy="627017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760720" y="2450591"/>
            <a:ext cx="6062472" cy="5355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CCCCC"/>
                </a:solidFill>
                <a:latin typeface="Calibri"/>
              </a:rPr>
              <a:t>Low water intake (1–2) → prioritise deep hydration actives (hyaluronic acid, Aquaxyl). High intake (4–5) → can focus on other concerns.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4320" y="658368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BBBBBB"/>
                </a:solidFill>
                <a:latin typeface="Calibri"/>
              </a:rPr>
              <a:t>Atelier Rusalka  ·  Consultation Quiz  ·  Q5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02952" y="658368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BBBBBB"/>
                </a:solidFill>
                <a:latin typeface="Calibri"/>
              </a:rPr>
              <a:t>Page 7 of 35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6B5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0972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SECTION 1 — ABOUT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60152" y="109728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  <a:latin typeface="Calibri"/>
              </a:rPr>
              <a:t>Q6 of 30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658368"/>
            <a:ext cx="1645920" cy="256032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676656"/>
            <a:ext cx="15544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555555"/>
                </a:solidFill>
                <a:latin typeface="Calibri"/>
              </a:rPr>
              <a:t>UI: Scale (1–5)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03120" y="658368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B5B8A"/>
                </a:solidFill>
                <a:latin typeface="Calibri"/>
              </a:rPr>
              <a:t>Q6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1051560"/>
            <a:ext cx="7498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C1C1C"/>
                </a:solidFill>
                <a:latin typeface="Georgia"/>
              </a:rPr>
              <a:t>How many hours of sleep do you typically get?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947672"/>
            <a:ext cx="4480560" cy="36576"/>
          </a:xfrm>
          <a:prstGeom prst="rect">
            <a:avLst/>
          </a:prstGeom>
          <a:solidFill>
            <a:srgbClr val="BBB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874519"/>
            <a:ext cx="182880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1C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577340" y="1874519"/>
            <a:ext cx="182880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1C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697480" y="1874519"/>
            <a:ext cx="182880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1C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817620" y="1874519"/>
            <a:ext cx="182880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1C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937760" y="1874519"/>
            <a:ext cx="182880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1C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148839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  <a:latin typeface="Calibri"/>
              </a:rPr>
              <a:t>&lt;5 hours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31720" y="2148839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555555"/>
                </a:solidFill>
                <a:latin typeface="Calibri"/>
              </a:rPr>
              <a:t>6–7 hours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31920" y="2148839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555555"/>
                </a:solidFill>
                <a:latin typeface="Calibri"/>
              </a:rPr>
              <a:t>8+ hours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0" y="1051560"/>
            <a:ext cx="6245352" cy="274320"/>
          </a:xfrm>
          <a:prstGeom prst="rect">
            <a:avLst/>
          </a:prstGeom>
          <a:solidFill>
            <a:srgbClr val="6B5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60720" y="1097280"/>
            <a:ext cx="60624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+ Why We Ask: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0" y="1371600"/>
            <a:ext cx="6245352" cy="557784"/>
          </a:xfrm>
          <a:prstGeom prst="rect">
            <a:avLst/>
          </a:prstGeom>
          <a:solidFill>
            <a:srgbClr val="F8F6F2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0720" y="1426464"/>
            <a:ext cx="6062472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C1C1C"/>
                </a:solidFill>
                <a:latin typeface="Calibri"/>
              </a:rPr>
              <a:t>Skin repairs itself overnight. Poor sleep disrupts cortisol regulation, weakens the barrier, and accelerates signs of aging.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0" y="2066544"/>
            <a:ext cx="6245352" cy="256032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60720" y="2103120"/>
            <a:ext cx="60624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8A84B"/>
                </a:solidFill>
                <a:latin typeface="Calibri"/>
              </a:rPr>
              <a:t>RECOMMENDATION LOGIC (for developer):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69280" y="2359152"/>
            <a:ext cx="6245352" cy="603504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760720" y="2414016"/>
            <a:ext cx="606247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CCCCC"/>
                </a:solidFill>
                <a:latin typeface="Calibri"/>
              </a:rPr>
              <a:t>Poor sleep (1–2) → barrier repair and soothing actives (ectoin, panthenol, ceramides). Adequate sleep → standard formula path.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4320" y="658368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BBBBBB"/>
                </a:solidFill>
                <a:latin typeface="Calibri"/>
              </a:rPr>
              <a:t>Atelier Rusalka  ·  Consultation Quiz  ·  Q6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02952" y="658368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BBBBBB"/>
                </a:solidFill>
                <a:latin typeface="Calibri"/>
              </a:rPr>
              <a:t>Page 8 of 35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6B5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0972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SECTION 1 — ABOUT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60152" y="109728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  <a:latin typeface="Calibri"/>
              </a:rPr>
              <a:t>Q7 of 30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658368"/>
            <a:ext cx="1645920" cy="256032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676656"/>
            <a:ext cx="15544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555555"/>
                </a:solidFill>
                <a:latin typeface="Calibri"/>
              </a:rPr>
              <a:t>UI: Scale (1–5)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03120" y="658368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B5B8A"/>
                </a:solidFill>
                <a:latin typeface="Calibri"/>
              </a:rPr>
              <a:t>Q7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1051560"/>
            <a:ext cx="7498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C1C1C"/>
                </a:solidFill>
                <a:latin typeface="Georgia"/>
              </a:rPr>
              <a:t>How would you rate your daily stress level?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947672"/>
            <a:ext cx="4480560" cy="36576"/>
          </a:xfrm>
          <a:prstGeom prst="rect">
            <a:avLst/>
          </a:prstGeom>
          <a:solidFill>
            <a:srgbClr val="BBB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874519"/>
            <a:ext cx="182880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1C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577340" y="1874519"/>
            <a:ext cx="182880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1C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697480" y="1874519"/>
            <a:ext cx="182880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1C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817620" y="1874519"/>
            <a:ext cx="182880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1C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937760" y="1874519"/>
            <a:ext cx="182880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1C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148839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  <a:latin typeface="Calibri"/>
              </a:rPr>
              <a:t>Very low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31720" y="2148839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555555"/>
                </a:solidFill>
                <a:latin typeface="Calibri"/>
              </a:rPr>
              <a:t>Moderate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31920" y="2148839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555555"/>
                </a:solidFill>
                <a:latin typeface="Calibri"/>
              </a:rPr>
              <a:t>Very high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0" y="1051560"/>
            <a:ext cx="6245352" cy="274320"/>
          </a:xfrm>
          <a:prstGeom prst="rect">
            <a:avLst/>
          </a:prstGeom>
          <a:solidFill>
            <a:srgbClr val="6B5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60720" y="1097280"/>
            <a:ext cx="60624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+ Why We Ask: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0" y="1371600"/>
            <a:ext cx="6245352" cy="624078"/>
          </a:xfrm>
          <a:prstGeom prst="rect">
            <a:avLst/>
          </a:prstGeom>
          <a:solidFill>
            <a:srgbClr val="F8F6F2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0720" y="1426464"/>
            <a:ext cx="6062472" cy="5326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C1C1C"/>
                </a:solidFill>
                <a:latin typeface="Calibri"/>
              </a:rPr>
              <a:t>Chronic stress elevates cortisol, which triggers inflammation, breakouts, and barrier disruption. High-stress skin needs calming, anti-inflammatory care.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0" y="2132838"/>
            <a:ext cx="6245352" cy="256032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60720" y="2169414"/>
            <a:ext cx="60624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8A84B"/>
                </a:solidFill>
                <a:latin typeface="Calibri"/>
              </a:rPr>
              <a:t>RECOMMENDATION LOGIC (for developer):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69280" y="2425446"/>
            <a:ext cx="6245352" cy="637467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760720" y="2480310"/>
            <a:ext cx="6062472" cy="5460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CCCCC"/>
                </a:solidFill>
                <a:latin typeface="Calibri"/>
              </a:rPr>
              <a:t>High stress (4–5) → soothing botanicals (linden, chamomile, bisabolol), microbiome-protective actives (ectoin). Low stress → standard path.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4320" y="658368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BBBBBB"/>
                </a:solidFill>
                <a:latin typeface="Calibri"/>
              </a:rPr>
              <a:t>Atelier Rusalka  ·  Consultation Quiz  ·  Q7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02952" y="658368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BBBBBB"/>
                </a:solidFill>
                <a:latin typeface="Calibri"/>
              </a:rPr>
              <a:t>Page 9 of 35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6B5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0972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SECTION 1 — ABOUT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60152" y="109728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  <a:latin typeface="Calibri"/>
              </a:rPr>
              <a:t>Q8 of 30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658368"/>
            <a:ext cx="1645920" cy="256032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676656"/>
            <a:ext cx="15544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555555"/>
                </a:solidFill>
                <a:latin typeface="Calibri"/>
              </a:rPr>
              <a:t>UI: Multi-Scale Grid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03120" y="658368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B5B8A"/>
                </a:solidFill>
                <a:latin typeface="Calibri"/>
              </a:rPr>
              <a:t>Q8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1051560"/>
            <a:ext cx="7498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C1C1C"/>
                </a:solidFill>
                <a:latin typeface="Georgia"/>
              </a:rPr>
              <a:t>How would you describe your diet?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1554480"/>
            <a:ext cx="74980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Calibri"/>
              </a:rPr>
              <a:t>Move the slider for each food group.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874519"/>
            <a:ext cx="4846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C1C1C"/>
                </a:solidFill>
                <a:latin typeface="Calibri"/>
              </a:rPr>
              <a:t>VEGETABLES &amp; FRUITS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185416"/>
            <a:ext cx="4480560" cy="27432"/>
          </a:xfrm>
          <a:prstGeom prst="rect">
            <a:avLst/>
          </a:prstGeom>
          <a:solidFill>
            <a:srgbClr val="BBB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2130552"/>
            <a:ext cx="146304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1C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969008" y="2130552"/>
            <a:ext cx="146304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1C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62528" y="2130552"/>
            <a:ext cx="146304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1C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956048" y="2130552"/>
            <a:ext cx="146304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1C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19" y="231343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0">
                <a:solidFill>
                  <a:srgbClr val="555555"/>
                </a:solidFill>
                <a:latin typeface="Calibri"/>
              </a:rPr>
              <a:t>Rarely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0" y="231343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50" b="0" i="0">
                <a:solidFill>
                  <a:srgbClr val="555555"/>
                </a:solidFill>
                <a:latin typeface="Calibri"/>
              </a:rPr>
              <a:t>Daily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2532887"/>
            <a:ext cx="4846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C1C1C"/>
                </a:solidFill>
                <a:latin typeface="Calibri"/>
              </a:rPr>
              <a:t>DAIRY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2843784"/>
            <a:ext cx="4480560" cy="27432"/>
          </a:xfrm>
          <a:prstGeom prst="rect">
            <a:avLst/>
          </a:prstGeom>
          <a:solidFill>
            <a:srgbClr val="BBB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75488" y="2788920"/>
            <a:ext cx="146304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1C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969008" y="2788920"/>
            <a:ext cx="146304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1C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462528" y="2788920"/>
            <a:ext cx="146304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1C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956048" y="2788920"/>
            <a:ext cx="146304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1C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19" y="2971800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0">
                <a:solidFill>
                  <a:srgbClr val="555555"/>
                </a:solidFill>
                <a:latin typeface="Calibri"/>
              </a:rPr>
              <a:t>Rarely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97680" y="2971800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50" b="0" i="0">
                <a:solidFill>
                  <a:srgbClr val="555555"/>
                </a:solidFill>
                <a:latin typeface="Calibri"/>
              </a:rPr>
              <a:t>Daily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3191256"/>
            <a:ext cx="4846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C1C1C"/>
                </a:solidFill>
                <a:latin typeface="Calibri"/>
              </a:rPr>
              <a:t>SUGAR &amp; PROCESSED FOODS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3502151"/>
            <a:ext cx="4480560" cy="27432"/>
          </a:xfrm>
          <a:prstGeom prst="rect">
            <a:avLst/>
          </a:prstGeom>
          <a:solidFill>
            <a:srgbClr val="BBB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75488" y="3447287"/>
            <a:ext cx="146304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1C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969008" y="3447287"/>
            <a:ext cx="146304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1C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462528" y="3447287"/>
            <a:ext cx="146304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1C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956048" y="3447287"/>
            <a:ext cx="146304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1C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2919" y="3630168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0">
                <a:solidFill>
                  <a:srgbClr val="555555"/>
                </a:solidFill>
                <a:latin typeface="Calibri"/>
              </a:rPr>
              <a:t>Rarely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97680" y="3630168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50" b="0" i="0">
                <a:solidFill>
                  <a:srgbClr val="555555"/>
                </a:solidFill>
                <a:latin typeface="Calibri"/>
              </a:rPr>
              <a:t>Daily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5760" y="3849624"/>
            <a:ext cx="4846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C1C1C"/>
                </a:solidFill>
                <a:latin typeface="Calibri"/>
              </a:rPr>
              <a:t>OMEGA-RICH FOODS (FISH, NUTS, SEEDS)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4160520"/>
            <a:ext cx="4480560" cy="27432"/>
          </a:xfrm>
          <a:prstGeom prst="rect">
            <a:avLst/>
          </a:prstGeom>
          <a:solidFill>
            <a:srgbClr val="BBB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75488" y="4105656"/>
            <a:ext cx="146304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1C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969008" y="4105656"/>
            <a:ext cx="146304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1C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462528" y="4105656"/>
            <a:ext cx="146304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1C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956048" y="4105656"/>
            <a:ext cx="146304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1C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02919" y="4288536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0">
                <a:solidFill>
                  <a:srgbClr val="555555"/>
                </a:solidFill>
                <a:latin typeface="Calibri"/>
              </a:rPr>
              <a:t>Rarely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297680" y="4288536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50" b="0" i="0">
                <a:solidFill>
                  <a:srgbClr val="555555"/>
                </a:solidFill>
                <a:latin typeface="Calibri"/>
              </a:rPr>
              <a:t>Daily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669280" y="1051560"/>
            <a:ext cx="6245352" cy="274320"/>
          </a:xfrm>
          <a:prstGeom prst="rect">
            <a:avLst/>
          </a:prstGeom>
          <a:solidFill>
            <a:srgbClr val="6B5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760720" y="1097280"/>
            <a:ext cx="60624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+ Why We Ask: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669280" y="1371600"/>
            <a:ext cx="6245352" cy="656082"/>
          </a:xfrm>
          <a:prstGeom prst="rect">
            <a:avLst/>
          </a:prstGeom>
          <a:solidFill>
            <a:srgbClr val="F8F6F2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760720" y="1426464"/>
            <a:ext cx="6062472" cy="5646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C1C1C"/>
                </a:solidFill>
                <a:latin typeface="Calibri"/>
              </a:rPr>
              <a:t>Diet directly impacts skin — dairy and sugar can trigger breakouts, while omega fatty acids and antioxidant-rich fruits support barrier health and reduce inflammation.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669280" y="2164842"/>
            <a:ext cx="6245352" cy="256032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760720" y="2201418"/>
            <a:ext cx="60624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8A84B"/>
                </a:solidFill>
                <a:latin typeface="Calibri"/>
              </a:rPr>
              <a:t>RECOMMENDATION LOGIC (for developer):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669280" y="2457450"/>
            <a:ext cx="6245352" cy="64008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760720" y="2512314"/>
            <a:ext cx="60624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CCCCC"/>
                </a:solidFill>
                <a:latin typeface="Calibri"/>
              </a:rPr>
              <a:t>High dairy/sugar → breakout-prone formulas. Low omega intake → lipid-rich formulations. High fruit/veg → antioxidant base may be sufficient.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74320" y="658368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BBBBBB"/>
                </a:solidFill>
                <a:latin typeface="Calibri"/>
              </a:rPr>
              <a:t>Atelier Rusalka  ·  Consultation Quiz  ·  Q8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902952" y="658368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BBBBBB"/>
                </a:solidFill>
                <a:latin typeface="Calibri"/>
              </a:rPr>
              <a:t>Page 10 of 35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6B5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0972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SECTION 1 — ABOUT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60152" y="109728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  <a:latin typeface="Calibri"/>
              </a:rPr>
              <a:t>Q9 of 30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658368"/>
            <a:ext cx="1645920" cy="256032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676656"/>
            <a:ext cx="15544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555555"/>
                </a:solidFill>
                <a:latin typeface="Calibri"/>
              </a:rPr>
              <a:t>UI: Scale (1–5)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03120" y="658368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B5B8A"/>
                </a:solidFill>
                <a:latin typeface="Calibri"/>
              </a:rPr>
              <a:t>Q9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1051560"/>
            <a:ext cx="7498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C1C1C"/>
                </a:solidFill>
                <a:latin typeface="Georgia"/>
              </a:rPr>
              <a:t>How much daily sun exposure do you get?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947672"/>
            <a:ext cx="4480560" cy="36576"/>
          </a:xfrm>
          <a:prstGeom prst="rect">
            <a:avLst/>
          </a:prstGeom>
          <a:solidFill>
            <a:srgbClr val="BBB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874519"/>
            <a:ext cx="182880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1C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577340" y="1874519"/>
            <a:ext cx="182880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1C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697480" y="1874519"/>
            <a:ext cx="182880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1C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817620" y="1874519"/>
            <a:ext cx="182880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1C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937760" y="1874519"/>
            <a:ext cx="182880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1C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148839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  <a:latin typeface="Calibri"/>
              </a:rPr>
              <a:t>Minimal (&lt;30 min)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31720" y="2148839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555555"/>
                </a:solidFill>
                <a:latin typeface="Calibri"/>
              </a:rPr>
              <a:t>Moderate (1–2 hrs)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31920" y="2148839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555555"/>
                </a:solidFill>
                <a:latin typeface="Calibri"/>
              </a:rPr>
              <a:t>Very high (4+ hrs)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0" y="1051560"/>
            <a:ext cx="6245352" cy="274320"/>
          </a:xfrm>
          <a:prstGeom prst="rect">
            <a:avLst/>
          </a:prstGeom>
          <a:solidFill>
            <a:srgbClr val="6B5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60720" y="1097280"/>
            <a:ext cx="60624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+ Why We Ask: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0" y="1371600"/>
            <a:ext cx="6245352" cy="630936"/>
          </a:xfrm>
          <a:prstGeom prst="rect">
            <a:avLst/>
          </a:prstGeom>
          <a:solidFill>
            <a:srgbClr val="F8F6F2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0720" y="1426464"/>
            <a:ext cx="6062472" cy="53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C1C1C"/>
                </a:solidFill>
                <a:latin typeface="Calibri"/>
              </a:rPr>
              <a:t>UV exposure is the #1 driver of premature skin aging, hyperpigmentation, and collagen breakdown. We adjust antioxidant and repair-active levels accordingly.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0" y="2139696"/>
            <a:ext cx="6245352" cy="256032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60720" y="2176272"/>
            <a:ext cx="60624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8A84B"/>
                </a:solidFill>
                <a:latin typeface="Calibri"/>
              </a:rPr>
              <a:t>RECOMMENDATION LOGIC (for developer):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69280" y="2432303"/>
            <a:ext cx="6245352" cy="64008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760720" y="2487168"/>
            <a:ext cx="60624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CCCCC"/>
                </a:solidFill>
                <a:latin typeface="Calibri"/>
              </a:rPr>
              <a:t>High exposure (4–5) → strong antioxidant cocktail (vitamin C, resveratrol, CoQ10), repair actives. Minimal → lighter antioxidant protection.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4320" y="658368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BBBBBB"/>
                </a:solidFill>
                <a:latin typeface="Calibri"/>
              </a:rPr>
              <a:t>Atelier Rusalka  ·  Consultation Quiz  ·  Q9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02952" y="658368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BBBBBB"/>
                </a:solidFill>
                <a:latin typeface="Calibri"/>
              </a:rPr>
              <a:t>Page 11 of 35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6B5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0972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SECTION 1 — ABOUT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60152" y="109728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  <a:latin typeface="Calibri"/>
              </a:rPr>
              <a:t>Q10 of 30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658368"/>
            <a:ext cx="1645920" cy="256032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676656"/>
            <a:ext cx="15544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555555"/>
                </a:solidFill>
                <a:latin typeface="Calibri"/>
              </a:rPr>
              <a:t>UI: Yes / No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03120" y="658368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B5B8A"/>
                </a:solidFill>
                <a:latin typeface="Calibri"/>
              </a:rPr>
              <a:t>Q10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1051560"/>
            <a:ext cx="7498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C1C1C"/>
                </a:solidFill>
                <a:latin typeface="Georgia"/>
              </a:rPr>
              <a:t>Are you currently pregnant or breastfeeding?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600200"/>
            <a:ext cx="2286000" cy="502920"/>
          </a:xfrm>
          <a:prstGeom prst="rect">
            <a:avLst/>
          </a:prstGeom>
          <a:solidFill>
            <a:srgbClr val="F5F3EF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70992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C1C1C"/>
                </a:solidFill>
                <a:latin typeface="Calibri"/>
              </a:rPr>
              <a:t>Yes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34639" y="1600200"/>
            <a:ext cx="2286000" cy="502920"/>
          </a:xfrm>
          <a:prstGeom prst="rect">
            <a:avLst/>
          </a:prstGeom>
          <a:solidFill>
            <a:srgbClr val="F5F3EF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26079" y="170992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C1C1C"/>
                </a:solidFill>
                <a:latin typeface="Calibri"/>
              </a:rPr>
              <a:t>No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0" y="1051560"/>
            <a:ext cx="6245352" cy="274320"/>
          </a:xfrm>
          <a:prstGeom prst="rect">
            <a:avLst/>
          </a:prstGeom>
          <a:solidFill>
            <a:srgbClr val="6B5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60720" y="1097280"/>
            <a:ext cx="60624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+ Why We Ask: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0" y="1371600"/>
            <a:ext cx="6245352" cy="635508"/>
          </a:xfrm>
          <a:prstGeom prst="rect">
            <a:avLst/>
          </a:prstGeom>
          <a:solidFill>
            <a:srgbClr val="F8F6F2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760720" y="1426464"/>
            <a:ext cx="6062472" cy="5440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C1C1C"/>
                </a:solidFill>
                <a:latin typeface="Calibri"/>
              </a:rPr>
              <a:t>Certain actives like retinol, salicylic acid (&gt;2%), and some essential oils are contraindicated during pregnancy. We need to ensure your formula is 100% safe.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0" y="2144268"/>
            <a:ext cx="6245352" cy="256032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60720" y="2180844"/>
            <a:ext cx="60624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8A84B"/>
                </a:solidFill>
                <a:latin typeface="Calibri"/>
              </a:rPr>
              <a:t>RECOMMENDATION LOGIC (for developer):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0" y="2436876"/>
            <a:ext cx="6245352" cy="666205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60720" y="2491740"/>
            <a:ext cx="6062472" cy="5747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CCCCC"/>
                </a:solidFill>
                <a:latin typeface="Calibri"/>
              </a:rPr>
              <a:t>If Yes → EXCLUDE all retinoid formulas (SO4, SD4, SD9, CO12), limit BHA concentration. Route to pregnancy-safe alternatives (bakuchiol, azeloglycine).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4320" y="658368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BBBBBB"/>
                </a:solidFill>
                <a:latin typeface="Calibri"/>
              </a:rPr>
              <a:t>Atelier Rusalka  ·  Consultation Quiz  ·  Q10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02952" y="658368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BBBBBB"/>
                </a:solidFill>
                <a:latin typeface="Calibri"/>
              </a:rPr>
              <a:t>Page 12 of 35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5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Calibri"/>
              </a:rPr>
              <a:t>SECTION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4688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Georgia"/>
              </a:rPr>
              <a:t>Your Skin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383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DDDDDD"/>
                </a:solidFill>
                <a:latin typeface="Calibri"/>
              </a:rPr>
              <a:t>Skin type, concerns &amp; conditions  ·  10 questions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A5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0972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SECTION 2 — YOUR SKIN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60152" y="109728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  <a:latin typeface="Calibri"/>
              </a:rPr>
              <a:t>Q11 of 30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658368"/>
            <a:ext cx="1645920" cy="256032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676656"/>
            <a:ext cx="15544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555555"/>
                </a:solidFill>
                <a:latin typeface="Calibri"/>
              </a:rPr>
              <a:t>UI: Single Select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03120" y="658368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5F7A"/>
                </a:solidFill>
                <a:latin typeface="Calibri"/>
              </a:rPr>
              <a:t>Q11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1051560"/>
            <a:ext cx="7498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C1C1C"/>
                </a:solidFill>
                <a:latin typeface="Georgia"/>
              </a:rPr>
              <a:t>How would you describe your skin type?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1554480"/>
            <a:ext cx="74980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Calibri"/>
              </a:rPr>
              <a:t>Think about how your skin feels by midday without any products.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874519"/>
            <a:ext cx="5029200" cy="329184"/>
          </a:xfrm>
          <a:prstGeom prst="rect">
            <a:avLst/>
          </a:prstGeom>
          <a:solidFill>
            <a:srgbClr val="F5F3EF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4048" y="1929384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C1C1C"/>
                </a:solidFill>
                <a:latin typeface="Calibri"/>
              </a:rPr>
              <a:t>○  Oily — shiny all over, especially T-zone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2258568"/>
            <a:ext cx="5029200" cy="329184"/>
          </a:xfrm>
          <a:prstGeom prst="rect">
            <a:avLst/>
          </a:prstGeom>
          <a:solidFill>
            <a:srgbClr val="F5F3EF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4048" y="2313432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C1C1C"/>
                </a:solidFill>
                <a:latin typeface="Calibri"/>
              </a:rPr>
              <a:t>○  Dry — tight, flaky, sometimes rough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2642615"/>
            <a:ext cx="5029200" cy="329184"/>
          </a:xfrm>
          <a:prstGeom prst="rect">
            <a:avLst/>
          </a:prstGeom>
          <a:solidFill>
            <a:srgbClr val="F5F3EF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4048" y="2697479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C1C1C"/>
                </a:solidFill>
                <a:latin typeface="Calibri"/>
              </a:rPr>
              <a:t>○  Combination — oily T-zone, dry cheeks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3026663"/>
            <a:ext cx="5029200" cy="329184"/>
          </a:xfrm>
          <a:prstGeom prst="rect">
            <a:avLst/>
          </a:prstGeom>
          <a:solidFill>
            <a:srgbClr val="F5F3EF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84048" y="3081527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C1C1C"/>
                </a:solidFill>
                <a:latin typeface="Calibri"/>
              </a:rPr>
              <a:t>○  Sensitive — easily irritated, reactive to new products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0" y="1051560"/>
            <a:ext cx="6245352" cy="274320"/>
          </a:xfrm>
          <a:prstGeom prst="rect">
            <a:avLst/>
          </a:prstGeom>
          <a:solidFill>
            <a:srgbClr val="1A5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60720" y="1097280"/>
            <a:ext cx="60624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+ Why We Ask: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0" y="1371600"/>
            <a:ext cx="6245352" cy="596646"/>
          </a:xfrm>
          <a:prstGeom prst="rect">
            <a:avLst/>
          </a:prstGeom>
          <a:solidFill>
            <a:srgbClr val="F8F6F2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0720" y="1426464"/>
            <a:ext cx="6062472" cy="5052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C1C1C"/>
                </a:solidFill>
                <a:latin typeface="Calibri"/>
              </a:rPr>
              <a:t>Your baseline skin type determines the product base and texture — from lightweight aqua-gels for oily skin to rich nutri-creams for dry skin.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0" y="2105406"/>
            <a:ext cx="6245352" cy="256032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60720" y="2141982"/>
            <a:ext cx="60624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8A84B"/>
                </a:solidFill>
                <a:latin typeface="Calibri"/>
              </a:rPr>
              <a:t>RECOMMENDATION LOGIC (for developer):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69280" y="2398013"/>
            <a:ext cx="6245352" cy="67143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760720" y="2452877"/>
            <a:ext cx="6062472" cy="5799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CCCCC"/>
                </a:solidFill>
                <a:latin typeface="Calibri"/>
              </a:rPr>
              <a:t>PRIMARY ROUTING VARIABLE. Oily → O-bases (SO, CO, MO). Dry → D-bases (SD, CD, MD). Combination → C-bases (SC, CC, MC). Sensitive → S-bases (SS, CS, MS).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4320" y="658368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BBBBBB"/>
                </a:solidFill>
                <a:latin typeface="Calibri"/>
              </a:rPr>
              <a:t>Atelier Rusalka  ·  Consultation Quiz  ·  Q11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02952" y="658368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BBBBBB"/>
                </a:solidFill>
                <a:latin typeface="Calibri"/>
              </a:rPr>
              <a:t>Page 13 of 35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A5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0972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SECTION 2 — YOUR SKIN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60152" y="109728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  <a:latin typeface="Calibri"/>
              </a:rPr>
              <a:t>Q12 of 30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658368"/>
            <a:ext cx="1645920" cy="256032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676656"/>
            <a:ext cx="15544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555555"/>
                </a:solidFill>
                <a:latin typeface="Calibri"/>
              </a:rPr>
              <a:t>UI: Multi-Select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03120" y="658368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5F7A"/>
                </a:solidFill>
                <a:latin typeface="Calibri"/>
              </a:rPr>
              <a:t>Q12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1051560"/>
            <a:ext cx="7498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C1C1C"/>
                </a:solidFill>
                <a:latin typeface="Georgia"/>
              </a:rPr>
              <a:t>What are your biggest skin concerns right now?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1554480"/>
            <a:ext cx="74980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Calibri"/>
              </a:rPr>
              <a:t>Select all that apply — focus on what feels most pressing.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874519"/>
            <a:ext cx="5029200" cy="292608"/>
          </a:xfrm>
          <a:prstGeom prst="rect">
            <a:avLst/>
          </a:prstGeom>
          <a:solidFill>
            <a:srgbClr val="F5F3EF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4048" y="1911095"/>
            <a:ext cx="4846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C1C1C"/>
                </a:solidFill>
                <a:latin typeface="Calibri"/>
              </a:rPr>
              <a:t>☐  Breakouts or blemishes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2221991"/>
            <a:ext cx="5029200" cy="292608"/>
          </a:xfrm>
          <a:prstGeom prst="rect">
            <a:avLst/>
          </a:prstGeom>
          <a:solidFill>
            <a:srgbClr val="F5F3EF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4048" y="2258568"/>
            <a:ext cx="4846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C1C1C"/>
                </a:solidFill>
                <a:latin typeface="Calibri"/>
              </a:rPr>
              <a:t>☐  Dryness or dehydration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2569463"/>
            <a:ext cx="5029200" cy="292608"/>
          </a:xfrm>
          <a:prstGeom prst="rect">
            <a:avLst/>
          </a:prstGeom>
          <a:solidFill>
            <a:srgbClr val="F5F3EF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4048" y="2606039"/>
            <a:ext cx="4846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C1C1C"/>
                </a:solidFill>
                <a:latin typeface="Calibri"/>
              </a:rPr>
              <a:t>☐  Oiliness or excess shine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2916936"/>
            <a:ext cx="5029200" cy="292608"/>
          </a:xfrm>
          <a:prstGeom prst="rect">
            <a:avLst/>
          </a:prstGeom>
          <a:solidFill>
            <a:srgbClr val="F5F3EF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84048" y="2953512"/>
            <a:ext cx="4846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C1C1C"/>
                </a:solidFill>
                <a:latin typeface="Calibri"/>
              </a:rPr>
              <a:t>☐  Fine lines or wrinkles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3264408"/>
            <a:ext cx="5029200" cy="292608"/>
          </a:xfrm>
          <a:prstGeom prst="rect">
            <a:avLst/>
          </a:prstGeom>
          <a:solidFill>
            <a:srgbClr val="F5F3EF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84048" y="3300984"/>
            <a:ext cx="4846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C1C1C"/>
                </a:solidFill>
                <a:latin typeface="Calibri"/>
              </a:rPr>
              <a:t>☐  Lack of firmness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3611879"/>
            <a:ext cx="5029200" cy="292608"/>
          </a:xfrm>
          <a:prstGeom prst="rect">
            <a:avLst/>
          </a:prstGeom>
          <a:solidFill>
            <a:srgbClr val="F5F3EF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4048" y="3648456"/>
            <a:ext cx="4846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C1C1C"/>
                </a:solidFill>
                <a:latin typeface="Calibri"/>
              </a:rPr>
              <a:t>☐  Uneven skin tone or dark spots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3959352"/>
            <a:ext cx="5029200" cy="292608"/>
          </a:xfrm>
          <a:prstGeom prst="rect">
            <a:avLst/>
          </a:prstGeom>
          <a:solidFill>
            <a:srgbClr val="F5F3EF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84048" y="3995928"/>
            <a:ext cx="4846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C1C1C"/>
                </a:solidFill>
                <a:latin typeface="Calibri"/>
              </a:rPr>
              <a:t>☐  Enlarged pores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4306824"/>
            <a:ext cx="5029200" cy="292608"/>
          </a:xfrm>
          <a:prstGeom prst="rect">
            <a:avLst/>
          </a:prstGeom>
          <a:solidFill>
            <a:srgbClr val="F5F3EF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84048" y="4343400"/>
            <a:ext cx="4846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C1C1C"/>
                </a:solidFill>
                <a:latin typeface="Calibri"/>
              </a:rPr>
              <a:t>☐  Redness or irritation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4654296"/>
            <a:ext cx="5029200" cy="292608"/>
          </a:xfrm>
          <a:prstGeom prst="rect">
            <a:avLst/>
          </a:prstGeom>
          <a:solidFill>
            <a:srgbClr val="F5F3EF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84048" y="4690872"/>
            <a:ext cx="4846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C1C1C"/>
                </a:solidFill>
                <a:latin typeface="Calibri"/>
              </a:rPr>
              <a:t>☐  Dullness or tired-looking skin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5001768"/>
            <a:ext cx="5029200" cy="292608"/>
          </a:xfrm>
          <a:prstGeom prst="rect">
            <a:avLst/>
          </a:prstGeom>
          <a:solidFill>
            <a:srgbClr val="F5F3EF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84048" y="5038344"/>
            <a:ext cx="4846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C1C1C"/>
                </a:solidFill>
                <a:latin typeface="Calibri"/>
              </a:rPr>
              <a:t>☐  Sensitivity or reactivity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5349240"/>
            <a:ext cx="5029200" cy="292608"/>
          </a:xfrm>
          <a:prstGeom prst="rect">
            <a:avLst/>
          </a:prstGeom>
          <a:solidFill>
            <a:srgbClr val="F5F3EF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84048" y="5385816"/>
            <a:ext cx="4846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C1C1C"/>
                </a:solidFill>
                <a:latin typeface="Calibri"/>
              </a:rPr>
              <a:t>☐  Under-eye concerns (dark circles, puffiness)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" y="5696712"/>
            <a:ext cx="5029200" cy="292608"/>
          </a:xfrm>
          <a:prstGeom prst="rect">
            <a:avLst/>
          </a:prstGeom>
          <a:solidFill>
            <a:srgbClr val="F5F3EF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84048" y="5733288"/>
            <a:ext cx="4846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C1C1C"/>
                </a:solidFill>
                <a:latin typeface="Calibri"/>
              </a:rPr>
              <a:t>☐  Texture irregularities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669280" y="1051560"/>
            <a:ext cx="6245352" cy="274320"/>
          </a:xfrm>
          <a:prstGeom prst="rect">
            <a:avLst/>
          </a:prstGeom>
          <a:solidFill>
            <a:srgbClr val="1A5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760720" y="1097280"/>
            <a:ext cx="60624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+ Why We Ask: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669280" y="1371600"/>
            <a:ext cx="6245352" cy="580644"/>
          </a:xfrm>
          <a:prstGeom prst="rect">
            <a:avLst/>
          </a:prstGeom>
          <a:solidFill>
            <a:srgbClr val="F8F6F2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760720" y="1426464"/>
            <a:ext cx="6062472" cy="489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C1C1C"/>
                </a:solidFill>
                <a:latin typeface="Calibri"/>
              </a:rPr>
              <a:t>Your specific concerns guide us to the right active ingredients. Each concern maps to targeted actives in our botanical-rich formulas.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669280" y="2089403"/>
            <a:ext cx="6245352" cy="256032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760720" y="2125979"/>
            <a:ext cx="60624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8A84B"/>
                </a:solidFill>
                <a:latin typeface="Calibri"/>
              </a:rPr>
              <a:t>RECOMMENDATION LOGIC (for developer):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669280" y="2382011"/>
            <a:ext cx="6245352" cy="969264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760720" y="2436875"/>
            <a:ext cx="6062472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CCCCC"/>
                </a:solidFill>
                <a:latin typeface="Calibri"/>
              </a:rPr>
              <a:t>Multi-select maps to formula codes: Breakouts → BHA/zinc (SO1), Azeloglycine (SO3). Wrinkles → peptides/retinol (SO4, SD4, SD9). Brightening → TXA/niacinamide (SO2). Dryness → HA/aquaxyl (SD3). Sensitivity → ectoin/bisabolol (SD2). Dullness → vitamin C/CoQ10 (SD10).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74320" y="658368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BBBBBB"/>
                </a:solidFill>
                <a:latin typeface="Calibri"/>
              </a:rPr>
              <a:t>Atelier Rusalka  ·  Consultation Quiz  ·  Q12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902952" y="658368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BBBBBB"/>
                </a:solidFill>
                <a:latin typeface="Calibri"/>
              </a:rPr>
              <a:t>Page 14 of 35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A5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0972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SECTION 2 — YOUR SKIN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60152" y="109728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  <a:latin typeface="Calibri"/>
              </a:rPr>
              <a:t>Q13 of 30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658368"/>
            <a:ext cx="1645920" cy="256032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676656"/>
            <a:ext cx="15544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555555"/>
                </a:solidFill>
                <a:latin typeface="Calibri"/>
              </a:rPr>
              <a:t>UI: Scale (1–5)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03120" y="658368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5F7A"/>
                </a:solidFill>
                <a:latin typeface="Calibri"/>
              </a:rPr>
              <a:t>Q13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1051560"/>
            <a:ext cx="7498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C1C1C"/>
                </a:solidFill>
                <a:latin typeface="Georgia"/>
              </a:rPr>
              <a:t>How sensitive is your skin to the sun?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947672"/>
            <a:ext cx="4480560" cy="36576"/>
          </a:xfrm>
          <a:prstGeom prst="rect">
            <a:avLst/>
          </a:prstGeom>
          <a:solidFill>
            <a:srgbClr val="BBB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874519"/>
            <a:ext cx="182880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1C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577340" y="1874519"/>
            <a:ext cx="182880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1C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697480" y="1874519"/>
            <a:ext cx="182880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1C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817620" y="1874519"/>
            <a:ext cx="182880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1C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937760" y="1874519"/>
            <a:ext cx="182880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1C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148839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  <a:latin typeface="Calibri"/>
              </a:rPr>
              <a:t>Never burns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31720" y="2148839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555555"/>
                </a:solidFill>
                <a:latin typeface="Calibri"/>
              </a:rPr>
              <a:t>Sometimes burns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31920" y="2148839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555555"/>
                </a:solidFill>
                <a:latin typeface="Calibri"/>
              </a:rPr>
              <a:t>Burns very easily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0" y="1051560"/>
            <a:ext cx="6245352" cy="274320"/>
          </a:xfrm>
          <a:prstGeom prst="rect">
            <a:avLst/>
          </a:prstGeom>
          <a:solidFill>
            <a:srgbClr val="1A5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60720" y="1097280"/>
            <a:ext cx="60624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+ Why We Ask: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0" y="1371600"/>
            <a:ext cx="6245352" cy="633222"/>
          </a:xfrm>
          <a:prstGeom prst="rect">
            <a:avLst/>
          </a:prstGeom>
          <a:solidFill>
            <a:srgbClr val="F8F6F2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0720" y="1426464"/>
            <a:ext cx="6062472" cy="5417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C1C1C"/>
                </a:solidFill>
                <a:latin typeface="Calibri"/>
              </a:rPr>
              <a:t>Your photosensitivity indicates your skin's melanin levels and vulnerability to UV damage, which influences our choice of brightening and protective actives.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0" y="2141982"/>
            <a:ext cx="6245352" cy="256032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60720" y="2178558"/>
            <a:ext cx="60624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8A84B"/>
                </a:solidFill>
                <a:latin typeface="Calibri"/>
              </a:rPr>
              <a:t>RECOMMENDATION LOGIC (for developer):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69280" y="2434589"/>
            <a:ext cx="6245352" cy="668818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760720" y="2489453"/>
            <a:ext cx="6062472" cy="5773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CCCCC"/>
                </a:solidFill>
                <a:latin typeface="Calibri"/>
              </a:rPr>
              <a:t>High sensitivity (4–5) → avoid photosensitising actives (high-dose retinol), prioritise soothing antioxidants. Low → can include TXA, retinoids freely.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4320" y="658368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BBBBBB"/>
                </a:solidFill>
                <a:latin typeface="Calibri"/>
              </a:rPr>
              <a:t>Atelier Rusalka  ·  Consultation Quiz  ·  Q13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02952" y="658368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BBBBBB"/>
                </a:solidFill>
                <a:latin typeface="Calibri"/>
              </a:rPr>
              <a:t>Page 15 of 35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A5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0972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SECTION 2 — YOUR SKIN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60152" y="109728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  <a:latin typeface="Calibri"/>
              </a:rPr>
              <a:t>Q14 of 30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658368"/>
            <a:ext cx="1645920" cy="256032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676656"/>
            <a:ext cx="15544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555555"/>
                </a:solidFill>
                <a:latin typeface="Calibri"/>
              </a:rPr>
              <a:t>UI: Single Select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03120" y="658368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5F7A"/>
                </a:solidFill>
                <a:latin typeface="Calibri"/>
              </a:rPr>
              <a:t>Q14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1051560"/>
            <a:ext cx="7498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C1C1C"/>
                </a:solidFill>
                <a:latin typeface="Georgia"/>
              </a:rPr>
              <a:t>How does your skin feel after cleansing with just water?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1554480"/>
            <a:ext cx="74980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Calibri"/>
              </a:rPr>
              <a:t>Think about 15 minutes after washing — no products applied.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874519"/>
            <a:ext cx="5029200" cy="329184"/>
          </a:xfrm>
          <a:prstGeom prst="rect">
            <a:avLst/>
          </a:prstGeom>
          <a:solidFill>
            <a:srgbClr val="F5F3EF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4048" y="1929384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C1C1C"/>
                </a:solidFill>
                <a:latin typeface="Calibri"/>
              </a:rPr>
              <a:t>○  Tight and dry — needs moisture immediately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2258568"/>
            <a:ext cx="5029200" cy="329184"/>
          </a:xfrm>
          <a:prstGeom prst="rect">
            <a:avLst/>
          </a:prstGeom>
          <a:solidFill>
            <a:srgbClr val="F5F3EF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4048" y="2313432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C1C1C"/>
                </a:solidFill>
                <a:latin typeface="Calibri"/>
              </a:rPr>
              <a:t>○  Comfortable — feels balanced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2642615"/>
            <a:ext cx="5029200" cy="329184"/>
          </a:xfrm>
          <a:prstGeom prst="rect">
            <a:avLst/>
          </a:prstGeom>
          <a:solidFill>
            <a:srgbClr val="F5F3EF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4048" y="2697479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C1C1C"/>
                </a:solidFill>
                <a:latin typeface="Calibri"/>
              </a:rPr>
              <a:t>○  Slightly oily — shine returns quickly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3026663"/>
            <a:ext cx="5029200" cy="329184"/>
          </a:xfrm>
          <a:prstGeom prst="rect">
            <a:avLst/>
          </a:prstGeom>
          <a:solidFill>
            <a:srgbClr val="F5F3EF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84048" y="3081527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C1C1C"/>
                </a:solidFill>
                <a:latin typeface="Calibri"/>
              </a:rPr>
              <a:t>○  Irritated or red — even water feels harsh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0" y="1051560"/>
            <a:ext cx="6245352" cy="274320"/>
          </a:xfrm>
          <a:prstGeom prst="rect">
            <a:avLst/>
          </a:prstGeom>
          <a:solidFill>
            <a:srgbClr val="1A5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60720" y="1097280"/>
            <a:ext cx="60624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+ Why We Ask: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0" y="1371600"/>
            <a:ext cx="6245352" cy="557784"/>
          </a:xfrm>
          <a:prstGeom prst="rect">
            <a:avLst/>
          </a:prstGeom>
          <a:solidFill>
            <a:srgbClr val="F8F6F2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0720" y="1426464"/>
            <a:ext cx="6062472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C1C1C"/>
                </a:solidFill>
                <a:latin typeface="Calibri"/>
              </a:rPr>
              <a:t>Post-cleanse behaviour is one of the most reliable indicators of your skin's natural lipid production and barrier integrity.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0" y="2066544"/>
            <a:ext cx="6245352" cy="256032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60720" y="2103120"/>
            <a:ext cx="60624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8A84B"/>
                </a:solidFill>
                <a:latin typeface="Calibri"/>
              </a:rPr>
              <a:t>RECOMMENDATION LOGIC (for developer):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69280" y="2359152"/>
            <a:ext cx="6245352" cy="668818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760720" y="2414016"/>
            <a:ext cx="6062472" cy="5773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CCCCC"/>
                </a:solidFill>
                <a:latin typeface="Calibri"/>
              </a:rPr>
              <a:t>Validates Q11 skin type. Tight → confirms Dry. Oily → confirms Oily. Irritated → flags Sensitive override. Comfortable → Combination or Normal-leaning.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4320" y="658368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BBBBBB"/>
                </a:solidFill>
                <a:latin typeface="Calibri"/>
              </a:rPr>
              <a:t>Atelier Rusalka  ·  Consultation Quiz  ·  Q14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02952" y="658368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BBBBBB"/>
                </a:solidFill>
                <a:latin typeface="Calibri"/>
              </a:rPr>
              <a:t>Page 16 of 35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A5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0972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SECTION 2 — YOUR SKIN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60152" y="109728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  <a:latin typeface="Calibri"/>
              </a:rPr>
              <a:t>Q15 of 30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658368"/>
            <a:ext cx="1645920" cy="256032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676656"/>
            <a:ext cx="15544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555555"/>
                </a:solidFill>
                <a:latin typeface="Calibri"/>
              </a:rPr>
              <a:t>UI: Single Select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03120" y="658368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5F7A"/>
                </a:solidFill>
                <a:latin typeface="Calibri"/>
              </a:rPr>
              <a:t>Q15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1051560"/>
            <a:ext cx="7498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C1C1C"/>
                </a:solidFill>
                <a:latin typeface="Georgia"/>
              </a:rPr>
              <a:t>How often do you experience breakouts?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600200"/>
            <a:ext cx="5029200" cy="329184"/>
          </a:xfrm>
          <a:prstGeom prst="rect">
            <a:avLst/>
          </a:prstGeom>
          <a:solidFill>
            <a:srgbClr val="F5F3EF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8" y="1655064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C1C1C"/>
                </a:solidFill>
                <a:latin typeface="Calibri"/>
              </a:rPr>
              <a:t>○  Rarely or never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984248"/>
            <a:ext cx="5029200" cy="329184"/>
          </a:xfrm>
          <a:prstGeom prst="rect">
            <a:avLst/>
          </a:prstGeom>
          <a:solidFill>
            <a:srgbClr val="F5F3EF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048" y="2039112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C1C1C"/>
                </a:solidFill>
                <a:latin typeface="Calibri"/>
              </a:rPr>
              <a:t>○  Occasionally — a few times per year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2368296"/>
            <a:ext cx="5029200" cy="329184"/>
          </a:xfrm>
          <a:prstGeom prst="rect">
            <a:avLst/>
          </a:prstGeom>
          <a:solidFill>
            <a:srgbClr val="F5F3EF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4048" y="2423160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C1C1C"/>
                </a:solidFill>
                <a:latin typeface="Calibri"/>
              </a:rPr>
              <a:t>○  Monthly — often around my cycle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2752344"/>
            <a:ext cx="5029200" cy="329184"/>
          </a:xfrm>
          <a:prstGeom prst="rect">
            <a:avLst/>
          </a:prstGeom>
          <a:solidFill>
            <a:srgbClr val="F5F3EF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4048" y="2807208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C1C1C"/>
                </a:solidFill>
                <a:latin typeface="Calibri"/>
              </a:rPr>
              <a:t>○  Frequently — multiple times per month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3136391"/>
            <a:ext cx="5029200" cy="329184"/>
          </a:xfrm>
          <a:prstGeom prst="rect">
            <a:avLst/>
          </a:prstGeom>
          <a:solidFill>
            <a:srgbClr val="F5F3EF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84048" y="3191256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C1C1C"/>
                </a:solidFill>
                <a:latin typeface="Calibri"/>
              </a:rPr>
              <a:t>○  Constantly — always dealing with some form of breakout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0" y="1051560"/>
            <a:ext cx="6245352" cy="274320"/>
          </a:xfrm>
          <a:prstGeom prst="rect">
            <a:avLst/>
          </a:prstGeom>
          <a:solidFill>
            <a:srgbClr val="1A5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60720" y="1097280"/>
            <a:ext cx="60624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+ Why We Ask: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0" y="1371600"/>
            <a:ext cx="6245352" cy="646938"/>
          </a:xfrm>
          <a:prstGeom prst="rect">
            <a:avLst/>
          </a:prstGeom>
          <a:solidFill>
            <a:srgbClr val="F8F6F2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760720" y="1426464"/>
            <a:ext cx="6062472" cy="55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C1C1C"/>
                </a:solidFill>
                <a:latin typeface="Calibri"/>
              </a:rPr>
              <a:t>Breakout frequency helps us determine whether you need a maintenance approach or an active acne-fighting regimen with ingredients like salicylic acid and zinc PCA.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0" y="2155698"/>
            <a:ext cx="6245352" cy="256032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760720" y="2192274"/>
            <a:ext cx="60624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8A84B"/>
                </a:solidFill>
                <a:latin typeface="Calibri"/>
              </a:rPr>
              <a:t>RECOMMENDATION LOGIC (for developer):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0" y="2448306"/>
            <a:ext cx="6245352" cy="710619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760720" y="2503170"/>
            <a:ext cx="6062472" cy="6191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CCCCC"/>
                </a:solidFill>
                <a:latin typeface="Calibri"/>
              </a:rPr>
              <a:t>Monthly+ → acne-targeted actives (BHA, zinc PCA, niacinamide, azeloglycine). Cycle-linked → hormonal profile flag. Rarely → skip acne actives, focus on other concerns.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4320" y="658368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BBBBBB"/>
                </a:solidFill>
                <a:latin typeface="Calibri"/>
              </a:rPr>
              <a:t>Atelier Rusalka  ·  Consultation Quiz  ·  Q15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02952" y="658368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BBBBBB"/>
                </a:solidFill>
                <a:latin typeface="Calibri"/>
              </a:rPr>
              <a:t>Page 17 of 35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A5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0972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SECTION 2 — YOUR SKIN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60152" y="109728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  <a:latin typeface="Calibri"/>
              </a:rPr>
              <a:t>Q16 of 30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658368"/>
            <a:ext cx="1645920" cy="256032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676656"/>
            <a:ext cx="15544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555555"/>
                </a:solidFill>
                <a:latin typeface="Calibri"/>
              </a:rPr>
              <a:t>UI: Multi-Select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03120" y="658368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5F7A"/>
                </a:solidFill>
                <a:latin typeface="Calibri"/>
              </a:rPr>
              <a:t>Q16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1051560"/>
            <a:ext cx="7498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C1C1C"/>
                </a:solidFill>
                <a:latin typeface="Georgia"/>
              </a:rPr>
              <a:t>Do you experience any of the following?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1554480"/>
            <a:ext cx="74980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Calibri"/>
              </a:rPr>
              <a:t>Select all that apply.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874519"/>
            <a:ext cx="5029200" cy="292608"/>
          </a:xfrm>
          <a:prstGeom prst="rect">
            <a:avLst/>
          </a:prstGeom>
          <a:solidFill>
            <a:srgbClr val="F5F3EF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4048" y="1911095"/>
            <a:ext cx="4846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C1C1C"/>
                </a:solidFill>
                <a:latin typeface="Calibri"/>
              </a:rPr>
              <a:t>☐  Rosacea or redness-prone skin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2221991"/>
            <a:ext cx="5029200" cy="292608"/>
          </a:xfrm>
          <a:prstGeom prst="rect">
            <a:avLst/>
          </a:prstGeom>
          <a:solidFill>
            <a:srgbClr val="F5F3EF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4048" y="2258568"/>
            <a:ext cx="4846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C1C1C"/>
                </a:solidFill>
                <a:latin typeface="Calibri"/>
              </a:rPr>
              <a:t>☐  Eczema or atopic dermatitis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2569463"/>
            <a:ext cx="5029200" cy="292608"/>
          </a:xfrm>
          <a:prstGeom prst="rect">
            <a:avLst/>
          </a:prstGeom>
          <a:solidFill>
            <a:srgbClr val="F5F3EF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4048" y="2606039"/>
            <a:ext cx="4846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C1C1C"/>
                </a:solidFill>
                <a:latin typeface="Calibri"/>
              </a:rPr>
              <a:t>☐  Psoriasis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2916936"/>
            <a:ext cx="5029200" cy="292608"/>
          </a:xfrm>
          <a:prstGeom prst="rect">
            <a:avLst/>
          </a:prstGeom>
          <a:solidFill>
            <a:srgbClr val="F5F3EF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84048" y="2953512"/>
            <a:ext cx="4846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C1C1C"/>
                </a:solidFill>
                <a:latin typeface="Calibri"/>
              </a:rPr>
              <a:t>☐  Hormonal acne (jawline, chin)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3264408"/>
            <a:ext cx="5029200" cy="292608"/>
          </a:xfrm>
          <a:prstGeom prst="rect">
            <a:avLst/>
          </a:prstGeom>
          <a:solidFill>
            <a:srgbClr val="F5F3EF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84048" y="3300984"/>
            <a:ext cx="4846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C1C1C"/>
                </a:solidFill>
                <a:latin typeface="Calibri"/>
              </a:rPr>
              <a:t>☐  Melasma or post-inflammatory hyperpigmentation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3611879"/>
            <a:ext cx="5029200" cy="292608"/>
          </a:xfrm>
          <a:prstGeom prst="rect">
            <a:avLst/>
          </a:prstGeom>
          <a:solidFill>
            <a:srgbClr val="F5F3EF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4048" y="3648456"/>
            <a:ext cx="4846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C1C1C"/>
                </a:solidFill>
                <a:latin typeface="Calibri"/>
              </a:rPr>
              <a:t>☐  Contact allergies to cosmetic ingredients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3959352"/>
            <a:ext cx="5029200" cy="292608"/>
          </a:xfrm>
          <a:prstGeom prst="rect">
            <a:avLst/>
          </a:prstGeom>
          <a:solidFill>
            <a:srgbClr val="F5F3EF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84048" y="3995928"/>
            <a:ext cx="4846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C1C1C"/>
                </a:solidFill>
                <a:latin typeface="Calibri"/>
              </a:rPr>
              <a:t>☐  None of the above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69280" y="1051560"/>
            <a:ext cx="6245352" cy="274320"/>
          </a:xfrm>
          <a:prstGeom prst="rect">
            <a:avLst/>
          </a:prstGeom>
          <a:solidFill>
            <a:srgbClr val="1A5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760720" y="1097280"/>
            <a:ext cx="60624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+ Why We Ask: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669280" y="1371600"/>
            <a:ext cx="6245352" cy="553212"/>
          </a:xfrm>
          <a:prstGeom prst="rect">
            <a:avLst/>
          </a:prstGeom>
          <a:solidFill>
            <a:srgbClr val="F8F6F2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760720" y="1426464"/>
            <a:ext cx="6062472" cy="4617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C1C1C"/>
                </a:solidFill>
                <a:latin typeface="Calibri"/>
              </a:rPr>
              <a:t>Pre-existing skin conditions require specific ingredient exclusions and gentler formulation approaches to avoid flare-ups.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69280" y="2061972"/>
            <a:ext cx="6245352" cy="256032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760720" y="2098548"/>
            <a:ext cx="60624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8A84B"/>
                </a:solidFill>
                <a:latin typeface="Calibri"/>
              </a:rPr>
              <a:t>RECOMMENDATION LOGIC (for developer):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669280" y="2354579"/>
            <a:ext cx="6245352" cy="856923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760720" y="2409444"/>
            <a:ext cx="6062472" cy="7654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CCCCC"/>
                </a:solidFill>
                <a:latin typeface="Calibri"/>
              </a:rPr>
              <a:t>Rosacea → exclude BHAs, strong actives; route to ultra-gentle (bisabolol, ectoin, chamomile). Eczema → ceramide-heavy, fragrance-free. Melasma → TXA + niacinamide priority. Allergies → flag for fragrance-free (F0) variants.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4320" y="658368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BBBBBB"/>
                </a:solidFill>
                <a:latin typeface="Calibri"/>
              </a:rPr>
              <a:t>Atelier Rusalka  ·  Consultation Quiz  ·  Q16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02952" y="658368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BBBBBB"/>
                </a:solidFill>
                <a:latin typeface="Calibri"/>
              </a:rPr>
              <a:t>Page 18 of 35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A5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0972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SECTION 2 — YOUR SKIN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60152" y="109728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  <a:latin typeface="Calibri"/>
              </a:rPr>
              <a:t>Q17 of 30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658368"/>
            <a:ext cx="1645920" cy="256032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676656"/>
            <a:ext cx="15544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555555"/>
                </a:solidFill>
                <a:latin typeface="Calibri"/>
              </a:rPr>
              <a:t>UI: Scale (1–5)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03120" y="658368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5F7A"/>
                </a:solidFill>
                <a:latin typeface="Calibri"/>
              </a:rPr>
              <a:t>Q17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1051560"/>
            <a:ext cx="7498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C1C1C"/>
                </a:solidFill>
                <a:latin typeface="Georgia"/>
              </a:rPr>
              <a:t>How visible are your pores?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947672"/>
            <a:ext cx="4480560" cy="36576"/>
          </a:xfrm>
          <a:prstGeom prst="rect">
            <a:avLst/>
          </a:prstGeom>
          <a:solidFill>
            <a:srgbClr val="BBB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874519"/>
            <a:ext cx="182880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1C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577340" y="1874519"/>
            <a:ext cx="182880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1C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697480" y="1874519"/>
            <a:ext cx="182880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1C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817620" y="1874519"/>
            <a:ext cx="182880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1C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937760" y="1874519"/>
            <a:ext cx="182880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1C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148839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  <a:latin typeface="Calibri"/>
              </a:rPr>
              <a:t>Barely visible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31720" y="2148839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555555"/>
                </a:solidFill>
                <a:latin typeface="Calibri"/>
              </a:rPr>
              <a:t>Moderately visible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31920" y="2148839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555555"/>
                </a:solidFill>
                <a:latin typeface="Calibri"/>
              </a:rPr>
              <a:t>Extremely visible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0" y="1051560"/>
            <a:ext cx="6245352" cy="274320"/>
          </a:xfrm>
          <a:prstGeom prst="rect">
            <a:avLst/>
          </a:prstGeom>
          <a:solidFill>
            <a:srgbClr val="1A5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60720" y="1097280"/>
            <a:ext cx="60624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+ Why We Ask: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0" y="1371600"/>
            <a:ext cx="6245352" cy="598932"/>
          </a:xfrm>
          <a:prstGeom prst="rect">
            <a:avLst/>
          </a:prstGeom>
          <a:solidFill>
            <a:srgbClr val="F8F6F2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0720" y="1426464"/>
            <a:ext cx="6062472" cy="5074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C1C1C"/>
                </a:solidFill>
                <a:latin typeface="Calibri"/>
              </a:rPr>
              <a:t>Pore visibility correlates with sebum production and skin texture. Enlarged pores benefit from pore-refining actives like niacinamide and BHA.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0" y="2107692"/>
            <a:ext cx="6245352" cy="256032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60720" y="2144268"/>
            <a:ext cx="60624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8A84B"/>
                </a:solidFill>
                <a:latin typeface="Calibri"/>
              </a:rPr>
              <a:t>RECOMMENDATION LOGIC (for developer):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69280" y="2400300"/>
            <a:ext cx="6245352" cy="538189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760720" y="2455164"/>
            <a:ext cx="6062472" cy="446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CCCCC"/>
                </a:solidFill>
                <a:latin typeface="Calibri"/>
              </a:rPr>
              <a:t>High visibility (4–5) → niacinamide-rich formulas (SO2), BHA (SO1). Low → skip pore-specific actives.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4320" y="658368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BBBBBB"/>
                </a:solidFill>
                <a:latin typeface="Calibri"/>
              </a:rPr>
              <a:t>Atelier Rusalka  ·  Consultation Quiz  ·  Q17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02952" y="658368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BBBBBB"/>
                </a:solidFill>
                <a:latin typeface="Calibri"/>
              </a:rPr>
              <a:t>Page 19 of 35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A5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0972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SECTION 2 — YOUR SKIN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60152" y="109728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  <a:latin typeface="Calibri"/>
              </a:rPr>
              <a:t>Q18 of 30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658368"/>
            <a:ext cx="1645920" cy="256032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676656"/>
            <a:ext cx="15544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555555"/>
                </a:solidFill>
                <a:latin typeface="Calibri"/>
              </a:rPr>
              <a:t>UI: Single Select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03120" y="658368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5F7A"/>
                </a:solidFill>
                <a:latin typeface="Calibri"/>
              </a:rPr>
              <a:t>Q18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1051560"/>
            <a:ext cx="7498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C1C1C"/>
                </a:solidFill>
                <a:latin typeface="Georgia"/>
              </a:rPr>
              <a:t>How would you describe your skin tone?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1554480"/>
            <a:ext cx="74980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Calibri"/>
              </a:rPr>
              <a:t>This helps us consider melanin-related concerns like hyperpigmentation.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874519"/>
            <a:ext cx="5029200" cy="329184"/>
          </a:xfrm>
          <a:prstGeom prst="rect">
            <a:avLst/>
          </a:prstGeom>
          <a:solidFill>
            <a:srgbClr val="F5F3EF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4048" y="1929384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C1C1C"/>
                </a:solidFill>
                <a:latin typeface="Calibri"/>
              </a:rPr>
              <a:t>○  Very fair — burns easily, rarely tans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2258568"/>
            <a:ext cx="5029200" cy="329184"/>
          </a:xfrm>
          <a:prstGeom prst="rect">
            <a:avLst/>
          </a:prstGeom>
          <a:solidFill>
            <a:srgbClr val="F5F3EF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4048" y="2313432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C1C1C"/>
                </a:solidFill>
                <a:latin typeface="Calibri"/>
              </a:rPr>
              <a:t>○  Fair — sometimes burns, tans gradually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2642615"/>
            <a:ext cx="5029200" cy="329184"/>
          </a:xfrm>
          <a:prstGeom prst="rect">
            <a:avLst/>
          </a:prstGeom>
          <a:solidFill>
            <a:srgbClr val="F5F3EF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4048" y="2697479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C1C1C"/>
                </a:solidFill>
                <a:latin typeface="Calibri"/>
              </a:rPr>
              <a:t>○  Medium — rarely burns, tans well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3026663"/>
            <a:ext cx="5029200" cy="329184"/>
          </a:xfrm>
          <a:prstGeom prst="rect">
            <a:avLst/>
          </a:prstGeom>
          <a:solidFill>
            <a:srgbClr val="F5F3EF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84048" y="3081527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C1C1C"/>
                </a:solidFill>
                <a:latin typeface="Calibri"/>
              </a:rPr>
              <a:t>○  Olive — almost never burns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3410711"/>
            <a:ext cx="5029200" cy="329184"/>
          </a:xfrm>
          <a:prstGeom prst="rect">
            <a:avLst/>
          </a:prstGeom>
          <a:solidFill>
            <a:srgbClr val="F5F3EF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84048" y="3465575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C1C1C"/>
                </a:solidFill>
                <a:latin typeface="Calibri"/>
              </a:rPr>
              <a:t>○  Dark — never burns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3794760"/>
            <a:ext cx="5029200" cy="329184"/>
          </a:xfrm>
          <a:prstGeom prst="rect">
            <a:avLst/>
          </a:prstGeom>
          <a:solidFill>
            <a:srgbClr val="F5F3EF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4048" y="3849624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C1C1C"/>
                </a:solidFill>
                <a:latin typeface="Calibri"/>
              </a:rPr>
              <a:t>○  Very dark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0" y="1051560"/>
            <a:ext cx="6245352" cy="274320"/>
          </a:xfrm>
          <a:prstGeom prst="rect">
            <a:avLst/>
          </a:prstGeom>
          <a:solidFill>
            <a:srgbClr val="1A5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60720" y="1097280"/>
            <a:ext cx="60624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+ Why We Ask: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69280" y="1371600"/>
            <a:ext cx="6245352" cy="713232"/>
          </a:xfrm>
          <a:prstGeom prst="rect">
            <a:avLst/>
          </a:prstGeom>
          <a:solidFill>
            <a:srgbClr val="F8F6F2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760720" y="1426464"/>
            <a:ext cx="6062472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C1C1C"/>
                </a:solidFill>
                <a:latin typeface="Calibri"/>
              </a:rPr>
              <a:t>Melanin levels affect how your skin responds to ingredients like vitamin C, retinol, and exfoliating acids. Some actives need to be dosed differently for deeper skin tones to avoid irritation.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669280" y="2221992"/>
            <a:ext cx="6245352" cy="256032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760720" y="2258568"/>
            <a:ext cx="60624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8A84B"/>
                </a:solidFill>
                <a:latin typeface="Calibri"/>
              </a:rPr>
              <a:t>RECOMMENDATION LOGIC (for developer):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69280" y="2514600"/>
            <a:ext cx="6245352" cy="718457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760720" y="2569464"/>
            <a:ext cx="6062472" cy="6270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CCCCC"/>
                </a:solidFill>
                <a:latin typeface="Calibri"/>
              </a:rPr>
              <a:t>Deeper tones → careful with high-concentration AHAs/BHAs (risk of PIH). Prioritise gentler brightening (tranexamic acid over hydroquinone). Fair → standard active dosing.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74320" y="658368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BBBBBB"/>
                </a:solidFill>
                <a:latin typeface="Calibri"/>
              </a:rPr>
              <a:t>Atelier Rusalka  ·  Consultation Quiz  ·  Q18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902952" y="658368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BBBBBB"/>
                </a:solidFill>
                <a:latin typeface="Calibri"/>
              </a:rPr>
              <a:t>Page 20 of 35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A5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0972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SECTION 2 — YOUR SKIN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60152" y="109728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  <a:latin typeface="Calibri"/>
              </a:rPr>
              <a:t>Q19 of 30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658368"/>
            <a:ext cx="1645920" cy="256032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676656"/>
            <a:ext cx="15544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555555"/>
                </a:solidFill>
                <a:latin typeface="Calibri"/>
              </a:rPr>
              <a:t>UI: Multi-Scale Grid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03120" y="658368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5F7A"/>
                </a:solidFill>
                <a:latin typeface="Calibri"/>
              </a:rPr>
              <a:t>Q19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1051560"/>
            <a:ext cx="7498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C1C1C"/>
                </a:solidFill>
                <a:latin typeface="Georgia"/>
              </a:rPr>
              <a:t>Rate the following about your skin right now.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1554480"/>
            <a:ext cx="74980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Calibri"/>
              </a:rPr>
              <a:t>Move each slider to describe your current state.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874519"/>
            <a:ext cx="4846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C1C1C"/>
                </a:solidFill>
                <a:latin typeface="Calibri"/>
              </a:rPr>
              <a:t>HYDRATION LEVEL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185416"/>
            <a:ext cx="4480560" cy="27432"/>
          </a:xfrm>
          <a:prstGeom prst="rect">
            <a:avLst/>
          </a:prstGeom>
          <a:solidFill>
            <a:srgbClr val="BBB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2130552"/>
            <a:ext cx="146304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1C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595628" y="2130552"/>
            <a:ext cx="146304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1C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15768" y="2130552"/>
            <a:ext cx="146304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1C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835908" y="2130552"/>
            <a:ext cx="146304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1C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956048" y="2130552"/>
            <a:ext cx="146304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1C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19" y="231343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0">
                <a:solidFill>
                  <a:srgbClr val="555555"/>
                </a:solidFill>
                <a:latin typeface="Calibri"/>
              </a:rPr>
              <a:t>Very low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0" y="231343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50" b="0" i="0">
                <a:solidFill>
                  <a:srgbClr val="555555"/>
                </a:solidFill>
                <a:latin typeface="Calibri"/>
              </a:rPr>
              <a:t>Very high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532887"/>
            <a:ext cx="4846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C1C1C"/>
                </a:solidFill>
                <a:latin typeface="Calibri"/>
              </a:rPr>
              <a:t>OILINESS LEVEL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2843784"/>
            <a:ext cx="4480560" cy="27432"/>
          </a:xfrm>
          <a:prstGeom prst="rect">
            <a:avLst/>
          </a:prstGeom>
          <a:solidFill>
            <a:srgbClr val="BBB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75488" y="2788920"/>
            <a:ext cx="146304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1C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595628" y="2788920"/>
            <a:ext cx="146304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1C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715768" y="2788920"/>
            <a:ext cx="146304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1C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835908" y="2788920"/>
            <a:ext cx="146304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1C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956048" y="2788920"/>
            <a:ext cx="146304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1C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19" y="2971800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0">
                <a:solidFill>
                  <a:srgbClr val="555555"/>
                </a:solidFill>
                <a:latin typeface="Calibri"/>
              </a:rPr>
              <a:t>Very low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97680" y="2971800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50" b="0" i="0">
                <a:solidFill>
                  <a:srgbClr val="555555"/>
                </a:solidFill>
                <a:latin typeface="Calibri"/>
              </a:rPr>
              <a:t>Very high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" y="3191256"/>
            <a:ext cx="4846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C1C1C"/>
                </a:solidFill>
                <a:latin typeface="Calibri"/>
              </a:rPr>
              <a:t>REDNESS LEVEL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3502151"/>
            <a:ext cx="4480560" cy="27432"/>
          </a:xfrm>
          <a:prstGeom prst="rect">
            <a:avLst/>
          </a:prstGeom>
          <a:solidFill>
            <a:srgbClr val="BBB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75488" y="3447287"/>
            <a:ext cx="146304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1C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595628" y="3447287"/>
            <a:ext cx="146304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1C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715768" y="3447287"/>
            <a:ext cx="146304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1C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835908" y="3447287"/>
            <a:ext cx="146304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1C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956048" y="3447287"/>
            <a:ext cx="146304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1C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2919" y="3630168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0">
                <a:solidFill>
                  <a:srgbClr val="555555"/>
                </a:solidFill>
                <a:latin typeface="Calibri"/>
              </a:rPr>
              <a:t>Very low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97680" y="3630168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50" b="0" i="0">
                <a:solidFill>
                  <a:srgbClr val="555555"/>
                </a:solidFill>
                <a:latin typeface="Calibri"/>
              </a:rPr>
              <a:t>Very high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5760" y="3849624"/>
            <a:ext cx="4846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C1C1C"/>
                </a:solidFill>
                <a:latin typeface="Calibri"/>
              </a:rPr>
              <a:t>FIRMNESS / ELASTICITY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48640" y="4160520"/>
            <a:ext cx="4480560" cy="27432"/>
          </a:xfrm>
          <a:prstGeom prst="rect">
            <a:avLst/>
          </a:prstGeom>
          <a:solidFill>
            <a:srgbClr val="BBB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75488" y="4105656"/>
            <a:ext cx="146304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1C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595628" y="4105656"/>
            <a:ext cx="146304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1C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2715768" y="4105656"/>
            <a:ext cx="146304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1C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835908" y="4105656"/>
            <a:ext cx="146304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1C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956048" y="4105656"/>
            <a:ext cx="146304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1C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02919" y="4288536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0">
                <a:solidFill>
                  <a:srgbClr val="555555"/>
                </a:solidFill>
                <a:latin typeface="Calibri"/>
              </a:rPr>
              <a:t>Very low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297680" y="4288536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50" b="0" i="0">
                <a:solidFill>
                  <a:srgbClr val="555555"/>
                </a:solidFill>
                <a:latin typeface="Calibri"/>
              </a:rPr>
              <a:t>Very high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669280" y="1051560"/>
            <a:ext cx="6245352" cy="274320"/>
          </a:xfrm>
          <a:prstGeom prst="rect">
            <a:avLst/>
          </a:prstGeom>
          <a:solidFill>
            <a:srgbClr val="1A5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760720" y="1097280"/>
            <a:ext cx="60624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+ Why We Ask: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669280" y="1371600"/>
            <a:ext cx="6245352" cy="674370"/>
          </a:xfrm>
          <a:prstGeom prst="rect">
            <a:avLst/>
          </a:prstGeom>
          <a:solidFill>
            <a:srgbClr val="F8F6F2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760720" y="1426464"/>
            <a:ext cx="6062472" cy="5829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C1C1C"/>
                </a:solidFill>
                <a:latin typeface="Calibri"/>
              </a:rPr>
              <a:t>A real-time snapshot of your skin's condition helps us fine-tune the formula beyond just your baseline skin type — because skin fluctuates with seasons, stress, and lifestyle.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669280" y="2183129"/>
            <a:ext cx="6245352" cy="256032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760720" y="2219706"/>
            <a:ext cx="60624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8A84B"/>
                </a:solidFill>
                <a:latin typeface="Calibri"/>
              </a:rPr>
              <a:t>RECOMMENDATION LOGIC (for developer):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669280" y="2475737"/>
            <a:ext cx="6245352" cy="668818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760720" y="2530601"/>
            <a:ext cx="6062472" cy="5773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CCCCC"/>
                </a:solidFill>
                <a:latin typeface="Calibri"/>
              </a:rPr>
              <a:t>Creates a dynamic skin profile overlay on top of Q11 base type. E.g., Dry type + high oiliness → may actually be dehydrated-oily (Combination routing).</a:t>
            </a:r>
          </a:p>
        </p:txBody>
      </p:sp>
      <p:sp>
        <p:nvSpPr>
          <p:cNvPr id="55" name="Rectangle 5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74320" y="658368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BBBBBB"/>
                </a:solidFill>
                <a:latin typeface="Calibri"/>
              </a:rPr>
              <a:t>Atelier Rusalka  ·  Consultation Quiz  ·  Q19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902952" y="658368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BBBBBB"/>
                </a:solidFill>
                <a:latin typeface="Calibri"/>
              </a:rPr>
              <a:t>Page 21 of 35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A5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0972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SECTION 2 — YOUR SKIN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60152" y="109728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  <a:latin typeface="Calibri"/>
              </a:rPr>
              <a:t>Q20 of 30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658368"/>
            <a:ext cx="1645920" cy="256032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676656"/>
            <a:ext cx="15544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555555"/>
                </a:solidFill>
                <a:latin typeface="Calibri"/>
              </a:rPr>
              <a:t>UI: Single Select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03120" y="658368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5F7A"/>
                </a:solidFill>
                <a:latin typeface="Calibri"/>
              </a:rPr>
              <a:t>Q20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1051560"/>
            <a:ext cx="7498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C1C1C"/>
                </a:solidFill>
                <a:latin typeface="Georgia"/>
              </a:rPr>
              <a:t>Have you ever had an allergic reaction to a skincare product?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600200"/>
            <a:ext cx="5029200" cy="329184"/>
          </a:xfrm>
          <a:prstGeom prst="rect">
            <a:avLst/>
          </a:prstGeom>
          <a:solidFill>
            <a:srgbClr val="F5F3EF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8" y="1655064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C1C1C"/>
                </a:solidFill>
                <a:latin typeface="Calibri"/>
              </a:rPr>
              <a:t>○  No, never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984248"/>
            <a:ext cx="5029200" cy="329184"/>
          </a:xfrm>
          <a:prstGeom prst="rect">
            <a:avLst/>
          </a:prstGeom>
          <a:solidFill>
            <a:srgbClr val="F5F3EF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048" y="2039112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C1C1C"/>
                </a:solidFill>
                <a:latin typeface="Calibri"/>
              </a:rPr>
              <a:t>○  Yes — to fragrance or essential oils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2368296"/>
            <a:ext cx="5029200" cy="329184"/>
          </a:xfrm>
          <a:prstGeom prst="rect">
            <a:avLst/>
          </a:prstGeom>
          <a:solidFill>
            <a:srgbClr val="F5F3EF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4048" y="2423160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C1C1C"/>
                </a:solidFill>
                <a:latin typeface="Calibri"/>
              </a:rPr>
              <a:t>○  Yes — to a specific active ingredient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2752344"/>
            <a:ext cx="5029200" cy="329184"/>
          </a:xfrm>
          <a:prstGeom prst="rect">
            <a:avLst/>
          </a:prstGeom>
          <a:solidFill>
            <a:srgbClr val="F5F3EF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4048" y="2807208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C1C1C"/>
                </a:solidFill>
                <a:latin typeface="Calibri"/>
              </a:rPr>
              <a:t>○  Yes — but I'm not sure what caused it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3136391"/>
            <a:ext cx="5029200" cy="329184"/>
          </a:xfrm>
          <a:prstGeom prst="rect">
            <a:avLst/>
          </a:prstGeom>
          <a:solidFill>
            <a:srgbClr val="F5F3EF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84048" y="3191256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C1C1C"/>
                </a:solidFill>
                <a:latin typeface="Calibri"/>
              </a:rPr>
              <a:t>○  I have multiple known sensitivities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0" y="1051560"/>
            <a:ext cx="6245352" cy="274320"/>
          </a:xfrm>
          <a:prstGeom prst="rect">
            <a:avLst/>
          </a:prstGeom>
          <a:solidFill>
            <a:srgbClr val="1A5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60720" y="1097280"/>
            <a:ext cx="60624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+ Why We Ask: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0" y="1371600"/>
            <a:ext cx="6245352" cy="578358"/>
          </a:xfrm>
          <a:prstGeom prst="rect">
            <a:avLst/>
          </a:prstGeom>
          <a:solidFill>
            <a:srgbClr val="F8F6F2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760720" y="1426464"/>
            <a:ext cx="6062472" cy="4869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C1C1C"/>
                </a:solidFill>
                <a:latin typeface="Calibri"/>
              </a:rPr>
              <a:t>Ingredient sensitivities are critical safety information. We want to make sure your formula is both effective AND safe for your skin.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0" y="2087118"/>
            <a:ext cx="6245352" cy="256032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760720" y="2123694"/>
            <a:ext cx="60624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8A84B"/>
                </a:solidFill>
                <a:latin typeface="Calibri"/>
              </a:rPr>
              <a:t>RECOMMENDATION LOGIC (for developer):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0" y="2379726"/>
            <a:ext cx="6245352" cy="841248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760720" y="2434590"/>
            <a:ext cx="6062472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CCCCC"/>
                </a:solidFill>
                <a:latin typeface="Calibri"/>
              </a:rPr>
              <a:t>Fragrance allergy → route to F0 (fragrance-free) variant of all formulas. Active allergy → trigger follow-up to identify ingredient. Multiple sensitivities → Sensitive skin override + minimalist formulas (SD12, CD12).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4320" y="658368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BBBBBB"/>
                </a:solidFill>
                <a:latin typeface="Calibri"/>
              </a:rPr>
              <a:t>Atelier Rusalka  ·  Consultation Quiz  ·  Q20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02952" y="658368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BBBBBB"/>
                </a:solidFill>
                <a:latin typeface="Calibri"/>
              </a:rPr>
              <a:t>Page 22 of 35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4A7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Calibri"/>
              </a:rPr>
              <a:t>SECTION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4688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Georgia"/>
              </a:rPr>
              <a:t>Your Routine &amp; Preferences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383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DDDDDD"/>
                </a:solidFill>
                <a:latin typeface="Calibri"/>
              </a:rPr>
              <a:t>Preferences, values &amp; exclusions  ·  10 questions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4A7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0972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SECTION 3 — YOUR ROUTINE &amp; PREFERENCES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60152" y="109728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  <a:latin typeface="Calibri"/>
              </a:rPr>
              <a:t>Q21 of 30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658368"/>
            <a:ext cx="1645920" cy="256032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676656"/>
            <a:ext cx="15544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555555"/>
                </a:solidFill>
                <a:latin typeface="Calibri"/>
              </a:rPr>
              <a:t>UI: Single Select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03120" y="658368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A7C4E"/>
                </a:solidFill>
                <a:latin typeface="Calibri"/>
              </a:rPr>
              <a:t>Q21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1051560"/>
            <a:ext cx="7498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C1C1C"/>
                </a:solidFill>
                <a:latin typeface="Georgia"/>
              </a:rPr>
              <a:t>How many steps is your current skincare routine?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600200"/>
            <a:ext cx="5029200" cy="329184"/>
          </a:xfrm>
          <a:prstGeom prst="rect">
            <a:avLst/>
          </a:prstGeom>
          <a:solidFill>
            <a:srgbClr val="F5F3EF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8" y="1655064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C1C1C"/>
                </a:solidFill>
                <a:latin typeface="Calibri"/>
              </a:rPr>
              <a:t>○  1 step — I just wash my face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984248"/>
            <a:ext cx="5029200" cy="329184"/>
          </a:xfrm>
          <a:prstGeom prst="rect">
            <a:avLst/>
          </a:prstGeom>
          <a:solidFill>
            <a:srgbClr val="F5F3EF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048" y="2039112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C1C1C"/>
                </a:solidFill>
                <a:latin typeface="Calibri"/>
              </a:rPr>
              <a:t>○  2 steps — cleanser + moisturiser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2368296"/>
            <a:ext cx="5029200" cy="329184"/>
          </a:xfrm>
          <a:prstGeom prst="rect">
            <a:avLst/>
          </a:prstGeom>
          <a:solidFill>
            <a:srgbClr val="F5F3EF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4048" y="2423160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C1C1C"/>
                </a:solidFill>
                <a:latin typeface="Calibri"/>
              </a:rPr>
              <a:t>○  3–4 steps — cleanser, serum, moisturiser, SPF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2752344"/>
            <a:ext cx="5029200" cy="329184"/>
          </a:xfrm>
          <a:prstGeom prst="rect">
            <a:avLst/>
          </a:prstGeom>
          <a:solidFill>
            <a:srgbClr val="F5F3EF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4048" y="2807208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C1C1C"/>
                </a:solidFill>
                <a:latin typeface="Calibri"/>
              </a:rPr>
              <a:t>○  5+ steps — I have an elaborate routine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3136391"/>
            <a:ext cx="5029200" cy="329184"/>
          </a:xfrm>
          <a:prstGeom prst="rect">
            <a:avLst/>
          </a:prstGeom>
          <a:solidFill>
            <a:srgbClr val="F5F3EF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84048" y="3191256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C1C1C"/>
                </a:solidFill>
                <a:latin typeface="Calibri"/>
              </a:rPr>
              <a:t>○  I don't have a routine yet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0" y="1051560"/>
            <a:ext cx="6245352" cy="274320"/>
          </a:xfrm>
          <a:prstGeom prst="rect">
            <a:avLst/>
          </a:prstGeom>
          <a:solidFill>
            <a:srgbClr val="4A7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60720" y="1097280"/>
            <a:ext cx="60624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+ Why We Ask: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0" y="1371600"/>
            <a:ext cx="6245352" cy="649224"/>
          </a:xfrm>
          <a:prstGeom prst="rect">
            <a:avLst/>
          </a:prstGeom>
          <a:solidFill>
            <a:srgbClr val="F8F6F2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760720" y="1426464"/>
            <a:ext cx="6062472" cy="557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C1C1C"/>
                </a:solidFill>
                <a:latin typeface="Calibri"/>
              </a:rPr>
              <a:t>Your current routine complexity tells us how many products you're ready to manage. We'll recommend a regimen that fits your lifestyle — not one that overwhelms you.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0" y="2157984"/>
            <a:ext cx="6245352" cy="256032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760720" y="2194560"/>
            <a:ext cx="60624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8A84B"/>
                </a:solidFill>
                <a:latin typeface="Calibri"/>
              </a:rPr>
              <a:t>RECOMMENDATION LOGIC (for developer):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0" y="2450591"/>
            <a:ext cx="6245352" cy="700169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760720" y="2505456"/>
            <a:ext cx="6062472" cy="6087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CCCCC"/>
                </a:solidFill>
                <a:latin typeface="Calibri"/>
              </a:rPr>
              <a:t>1–2 steps → recommend a minimal set (1 cleanser + 1 serum-moisturiser hybrid). 3–4 → full trio (cleanser + serum + moisturiser). 5+ → can handle targeted layering.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4320" y="658368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BBBBBB"/>
                </a:solidFill>
                <a:latin typeface="Calibri"/>
              </a:rPr>
              <a:t>Atelier Rusalka  ·  Consultation Quiz  ·  Q21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02952" y="658368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BBBBBB"/>
                </a:solidFill>
                <a:latin typeface="Calibri"/>
              </a:rPr>
              <a:t>Page 23 of 35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4A7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0972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SECTION 3 — YOUR ROUTINE &amp; PREFERENCES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60152" y="109728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  <a:latin typeface="Calibri"/>
              </a:rPr>
              <a:t>Q22 of 30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658368"/>
            <a:ext cx="1645920" cy="256032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676656"/>
            <a:ext cx="15544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555555"/>
                </a:solidFill>
                <a:latin typeface="Calibri"/>
              </a:rPr>
              <a:t>UI: Single Select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03120" y="658368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A7C4E"/>
                </a:solidFill>
                <a:latin typeface="Calibri"/>
              </a:rPr>
              <a:t>Q22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1051560"/>
            <a:ext cx="7498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C1C1C"/>
                </a:solidFill>
                <a:latin typeface="Georgia"/>
              </a:rPr>
              <a:t>What texture do you prefer in a moisturiser?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600200"/>
            <a:ext cx="5029200" cy="329184"/>
          </a:xfrm>
          <a:prstGeom prst="rect">
            <a:avLst/>
          </a:prstGeom>
          <a:solidFill>
            <a:srgbClr val="F5F3EF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8" y="1655064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C1C1C"/>
                </a:solidFill>
                <a:latin typeface="Calibri"/>
              </a:rPr>
              <a:t>○  Lightweight gel — absorbs instantly, no residue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984248"/>
            <a:ext cx="5029200" cy="329184"/>
          </a:xfrm>
          <a:prstGeom prst="rect">
            <a:avLst/>
          </a:prstGeom>
          <a:solidFill>
            <a:srgbClr val="F5F3EF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048" y="2039112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C1C1C"/>
                </a:solidFill>
                <a:latin typeface="Calibri"/>
              </a:rPr>
              <a:t>○  Lotion — light but hydrating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2368296"/>
            <a:ext cx="5029200" cy="329184"/>
          </a:xfrm>
          <a:prstGeom prst="rect">
            <a:avLst/>
          </a:prstGeom>
          <a:solidFill>
            <a:srgbClr val="F5F3EF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4048" y="2423160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C1C1C"/>
                </a:solidFill>
                <a:latin typeface="Calibri"/>
              </a:rPr>
              <a:t>○  Cream — rich and nourishing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2752344"/>
            <a:ext cx="5029200" cy="329184"/>
          </a:xfrm>
          <a:prstGeom prst="rect">
            <a:avLst/>
          </a:prstGeom>
          <a:solidFill>
            <a:srgbClr val="F5F3EF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4048" y="2807208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C1C1C"/>
                </a:solidFill>
                <a:latin typeface="Calibri"/>
              </a:rPr>
              <a:t>○  Balm / Oil — very rich, cocooning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3136391"/>
            <a:ext cx="5029200" cy="329184"/>
          </a:xfrm>
          <a:prstGeom prst="rect">
            <a:avLst/>
          </a:prstGeom>
          <a:solidFill>
            <a:srgbClr val="F5F3EF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84048" y="3191256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C1C1C"/>
                </a:solidFill>
                <a:latin typeface="Calibri"/>
              </a:rPr>
              <a:t>○  I'm not sure — surprise me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0" y="1051560"/>
            <a:ext cx="6245352" cy="274320"/>
          </a:xfrm>
          <a:prstGeom prst="rect">
            <a:avLst/>
          </a:prstGeom>
          <a:solidFill>
            <a:srgbClr val="4A7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60720" y="1097280"/>
            <a:ext cx="60624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+ Why We Ask: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0" y="1371600"/>
            <a:ext cx="6245352" cy="642366"/>
          </a:xfrm>
          <a:prstGeom prst="rect">
            <a:avLst/>
          </a:prstGeom>
          <a:solidFill>
            <a:srgbClr val="F8F6F2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760720" y="1426464"/>
            <a:ext cx="6062472" cy="5509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C1C1C"/>
                </a:solidFill>
                <a:latin typeface="Calibri"/>
              </a:rPr>
              <a:t>Texture preference is deeply personal and directly affects how likely you are to use a product consistently. The best formula is one you actually enjoy applying.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0" y="2151126"/>
            <a:ext cx="6245352" cy="256032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760720" y="2187702"/>
            <a:ext cx="60624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8A84B"/>
                </a:solidFill>
                <a:latin typeface="Calibri"/>
              </a:rPr>
              <a:t>RECOMMENDATION LOGIC (for developer):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0" y="2443734"/>
            <a:ext cx="6245352" cy="747195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760720" y="2498598"/>
            <a:ext cx="6062472" cy="655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CCCCC"/>
                </a:solidFill>
                <a:latin typeface="Calibri"/>
              </a:rPr>
              <a:t>Gel → O-AquaGel / O-FilmGel bases. Lotion → C-bases. Cream → D-NutriCream bases. Balm/Oil → D-OmegaOil / C-OmegaBalm bases. Cross-referenced with skin type for final base selection.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4320" y="658368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BBBBBB"/>
                </a:solidFill>
                <a:latin typeface="Calibri"/>
              </a:rPr>
              <a:t>Atelier Rusalka  ·  Consultation Quiz  ·  Q22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02952" y="658368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BBBBBB"/>
                </a:solidFill>
                <a:latin typeface="Calibri"/>
              </a:rPr>
              <a:t>Page 24 of 35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4A7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0972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SECTION 3 — YOUR ROUTINE &amp; PREFERENCES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60152" y="109728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  <a:latin typeface="Calibri"/>
              </a:rPr>
              <a:t>Q23 of 30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658368"/>
            <a:ext cx="1645920" cy="256032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676656"/>
            <a:ext cx="15544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555555"/>
                </a:solidFill>
                <a:latin typeface="Calibri"/>
              </a:rPr>
              <a:t>UI: Single Select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03120" y="658368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A7C4E"/>
                </a:solidFill>
                <a:latin typeface="Calibri"/>
              </a:rPr>
              <a:t>Q23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1051560"/>
            <a:ext cx="7498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C1C1C"/>
                </a:solidFill>
                <a:latin typeface="Georgia"/>
              </a:rPr>
              <a:t>What type of cleanser do you prefer?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600200"/>
            <a:ext cx="5029200" cy="329184"/>
          </a:xfrm>
          <a:prstGeom prst="rect">
            <a:avLst/>
          </a:prstGeom>
          <a:solidFill>
            <a:srgbClr val="F5F3EF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8" y="1655064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C1C1C"/>
                </a:solidFill>
                <a:latin typeface="Calibri"/>
              </a:rPr>
              <a:t>○  Foaming / Gel cleanser — fresh, squeaky-clean feel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984248"/>
            <a:ext cx="5029200" cy="329184"/>
          </a:xfrm>
          <a:prstGeom prst="rect">
            <a:avLst/>
          </a:prstGeom>
          <a:solidFill>
            <a:srgbClr val="F5F3EF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048" y="2039112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C1C1C"/>
                </a:solidFill>
                <a:latin typeface="Calibri"/>
              </a:rPr>
              <a:t>○  Cream / Milk cleanser — soft, non-stripping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2368296"/>
            <a:ext cx="5029200" cy="329184"/>
          </a:xfrm>
          <a:prstGeom prst="rect">
            <a:avLst/>
          </a:prstGeom>
          <a:solidFill>
            <a:srgbClr val="F5F3EF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4048" y="2423160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C1C1C"/>
                </a:solidFill>
                <a:latin typeface="Calibri"/>
              </a:rPr>
              <a:t>○  Oil / Balm cleanser — dissolves everything, luxurious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2752344"/>
            <a:ext cx="5029200" cy="329184"/>
          </a:xfrm>
          <a:prstGeom prst="rect">
            <a:avLst/>
          </a:prstGeom>
          <a:solidFill>
            <a:srgbClr val="F5F3EF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4048" y="2807208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C1C1C"/>
                </a:solidFill>
                <a:latin typeface="Calibri"/>
              </a:rPr>
              <a:t>○  Micellar / Lotion — gentle, no-rinse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3136391"/>
            <a:ext cx="5029200" cy="329184"/>
          </a:xfrm>
          <a:prstGeom prst="rect">
            <a:avLst/>
          </a:prstGeom>
          <a:solidFill>
            <a:srgbClr val="F5F3EF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84048" y="3191256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C1C1C"/>
                </a:solidFill>
                <a:latin typeface="Calibri"/>
              </a:rPr>
              <a:t>○  I'm not sure — recommend one for me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0" y="1051560"/>
            <a:ext cx="6245352" cy="274320"/>
          </a:xfrm>
          <a:prstGeom prst="rect">
            <a:avLst/>
          </a:prstGeom>
          <a:solidFill>
            <a:srgbClr val="4A7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60720" y="1097280"/>
            <a:ext cx="60624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+ Why We Ask: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0" y="1371600"/>
            <a:ext cx="6245352" cy="605790"/>
          </a:xfrm>
          <a:prstGeom prst="rect">
            <a:avLst/>
          </a:prstGeom>
          <a:solidFill>
            <a:srgbClr val="F8F6F2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760720" y="1426464"/>
            <a:ext cx="6062472" cy="514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C1C1C"/>
                </a:solidFill>
                <a:latin typeface="Calibri"/>
              </a:rPr>
              <a:t>Cleanser preference impacts your entire routine. The wrong cleanser can strip your barrier or leave residue — getting this right is foundational.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0" y="2114550"/>
            <a:ext cx="6245352" cy="256032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760720" y="2151126"/>
            <a:ext cx="60624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8A84B"/>
                </a:solidFill>
                <a:latin typeface="Calibri"/>
              </a:rPr>
              <a:t>RECOMMENDATION LOGIC (for developer):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0" y="2407158"/>
            <a:ext cx="6245352" cy="736745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760720" y="2462022"/>
            <a:ext cx="6062472" cy="6453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CCCCC"/>
                </a:solidFill>
                <a:latin typeface="Calibri"/>
              </a:rPr>
              <a:t>Foam/Gel → C-LowFoamLotion bases (CO9, CO12). Cream/Milk → C-NutriCreamCleanser (CD2, CD3, CD7, CD12). Oil/Balm → C-OmegaBalm (CD9, CD10). Micellar → light lotion cleanser path.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4320" y="658368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BBBBBB"/>
                </a:solidFill>
                <a:latin typeface="Calibri"/>
              </a:rPr>
              <a:t>Atelier Rusalka  ·  Consultation Quiz  ·  Q23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02952" y="658368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BBBBBB"/>
                </a:solidFill>
                <a:latin typeface="Calibri"/>
              </a:rPr>
              <a:t>Page 25 of 35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4A7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0972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SECTION 3 — YOUR ROUTINE &amp; PREFERENCES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60152" y="109728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  <a:latin typeface="Calibri"/>
              </a:rPr>
              <a:t>Q24 of 30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658368"/>
            <a:ext cx="1645920" cy="256032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676656"/>
            <a:ext cx="15544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555555"/>
                </a:solidFill>
                <a:latin typeface="Calibri"/>
              </a:rPr>
              <a:t>UI: Drag &amp; Rank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03120" y="658368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A7C4E"/>
                </a:solidFill>
                <a:latin typeface="Calibri"/>
              </a:rPr>
              <a:t>Q24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1051560"/>
            <a:ext cx="7498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C1C1C"/>
                </a:solidFill>
                <a:latin typeface="Georgia"/>
              </a:rPr>
              <a:t>Rank these skincare priorities from most to least important.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1554480"/>
            <a:ext cx="74980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Calibri"/>
              </a:rPr>
              <a:t>Drag to reorder — your #1 priority gets the highest active concentration.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874519"/>
            <a:ext cx="5029200" cy="329184"/>
          </a:xfrm>
          <a:prstGeom prst="rect">
            <a:avLst/>
          </a:prstGeom>
          <a:solidFill>
            <a:srgbClr val="F5F3EF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1929384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C1C1C"/>
                </a:solidFill>
                <a:latin typeface="Calibri"/>
              </a:rPr>
              <a:t>≡  1.  Anti-aging (wrinkles, firmness, elasticity)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2258568"/>
            <a:ext cx="5029200" cy="329184"/>
          </a:xfrm>
          <a:prstGeom prst="rect">
            <a:avLst/>
          </a:prstGeom>
          <a:solidFill>
            <a:srgbClr val="F5F3EF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2313432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C1C1C"/>
                </a:solidFill>
                <a:latin typeface="Calibri"/>
              </a:rPr>
              <a:t>≡  2.  Brightening (even tone, radiance)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2642615"/>
            <a:ext cx="5029200" cy="329184"/>
          </a:xfrm>
          <a:prstGeom prst="rect">
            <a:avLst/>
          </a:prstGeom>
          <a:solidFill>
            <a:srgbClr val="F5F3EF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2697479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C1C1C"/>
                </a:solidFill>
                <a:latin typeface="Calibri"/>
              </a:rPr>
              <a:t>≡  3.  Hydration (plump, dewy, moisturised)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3026663"/>
            <a:ext cx="5029200" cy="329184"/>
          </a:xfrm>
          <a:prstGeom prst="rect">
            <a:avLst/>
          </a:prstGeom>
          <a:solidFill>
            <a:srgbClr val="F5F3EF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3081527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C1C1C"/>
                </a:solidFill>
                <a:latin typeface="Calibri"/>
              </a:rPr>
              <a:t>≡  4.  Calming (reduce redness, soothe irritation)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3410711"/>
            <a:ext cx="5029200" cy="329184"/>
          </a:xfrm>
          <a:prstGeom prst="rect">
            <a:avLst/>
          </a:prstGeom>
          <a:solidFill>
            <a:srgbClr val="F5F3EF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3465575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C1C1C"/>
                </a:solidFill>
                <a:latin typeface="Calibri"/>
              </a:rPr>
              <a:t>≡  5.  Clarifying (control oil, minimise breakouts)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3794760"/>
            <a:ext cx="5029200" cy="329184"/>
          </a:xfrm>
          <a:prstGeom prst="rect">
            <a:avLst/>
          </a:prstGeom>
          <a:solidFill>
            <a:srgbClr val="F5F3EF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3849624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C1C1C"/>
                </a:solidFill>
                <a:latin typeface="Calibri"/>
              </a:rPr>
              <a:t>≡  6.  Repair (strengthen barrier, heal damage)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0" y="1051560"/>
            <a:ext cx="6245352" cy="274320"/>
          </a:xfrm>
          <a:prstGeom prst="rect">
            <a:avLst/>
          </a:prstGeom>
          <a:solidFill>
            <a:srgbClr val="4A7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60720" y="1097280"/>
            <a:ext cx="60624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+ Why We Ask: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69280" y="1371600"/>
            <a:ext cx="6245352" cy="731520"/>
          </a:xfrm>
          <a:prstGeom prst="rect">
            <a:avLst/>
          </a:prstGeom>
          <a:solidFill>
            <a:srgbClr val="F8F6F2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760720" y="1426464"/>
            <a:ext cx="60624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C1C1C"/>
                </a:solidFill>
                <a:latin typeface="Calibri"/>
              </a:rPr>
              <a:t>When multiple concerns compete, we need to know what matters most to you. Your top priority gets the hero active at maximum concentration; secondary concerns are addressed with supporting ingredients.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669280" y="2240279"/>
            <a:ext cx="6245352" cy="256032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760720" y="2276856"/>
            <a:ext cx="60624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8A84B"/>
                </a:solidFill>
                <a:latin typeface="Calibri"/>
              </a:rPr>
              <a:t>RECOMMENDATION LOGIC (for developer):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69280" y="2532887"/>
            <a:ext cx="6245352" cy="893499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760720" y="2587751"/>
            <a:ext cx="6062472" cy="8020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CCCCC"/>
                </a:solidFill>
                <a:latin typeface="Calibri"/>
              </a:rPr>
              <a:t>Ranking determines the PRIMARY active shot: #1 Anti-aging → retinol/peptide formulas. #1 Brightening → TXA/niacinamide. #1 Hydration → HA/aquaxyl. #1 Calming → ectoin/bisabolol. #1 Clarifying → BHA/zinc. #1 Repair → ceramides/betaglucan.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74320" y="658368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BBBBBB"/>
                </a:solidFill>
                <a:latin typeface="Calibri"/>
              </a:rPr>
              <a:t>Atelier Rusalka  ·  Consultation Quiz  ·  Q24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902952" y="658368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BBBBBB"/>
                </a:solidFill>
                <a:latin typeface="Calibri"/>
              </a:rPr>
              <a:t>Page 26 of 35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4A7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0972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SECTION 3 — YOUR ROUTINE &amp; PREFERENCES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60152" y="109728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  <a:latin typeface="Calibri"/>
              </a:rPr>
              <a:t>Q25 of 30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658368"/>
            <a:ext cx="1645920" cy="256032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676656"/>
            <a:ext cx="15544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555555"/>
                </a:solidFill>
                <a:latin typeface="Calibri"/>
              </a:rPr>
              <a:t>UI: Multi-Select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03120" y="658368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A7C4E"/>
                </a:solidFill>
                <a:latin typeface="Calibri"/>
              </a:rPr>
              <a:t>Q25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1051560"/>
            <a:ext cx="7498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C1C1C"/>
                </a:solidFill>
                <a:latin typeface="Georgia"/>
              </a:rPr>
              <a:t>Which ingredient philosophies matter to you?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1554480"/>
            <a:ext cx="74980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Calibri"/>
              </a:rPr>
              <a:t>Select all that apply.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874519"/>
            <a:ext cx="5029200" cy="292608"/>
          </a:xfrm>
          <a:prstGeom prst="rect">
            <a:avLst/>
          </a:prstGeom>
          <a:solidFill>
            <a:srgbClr val="F5F3EF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4048" y="1911095"/>
            <a:ext cx="4846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C1C1C"/>
                </a:solidFill>
                <a:latin typeface="Calibri"/>
              </a:rPr>
              <a:t>☐  Clean beauty — no parabens, SLS, silicones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2221991"/>
            <a:ext cx="5029200" cy="292608"/>
          </a:xfrm>
          <a:prstGeom prst="rect">
            <a:avLst/>
          </a:prstGeom>
          <a:solidFill>
            <a:srgbClr val="F5F3EF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4048" y="2258568"/>
            <a:ext cx="4846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C1C1C"/>
                </a:solidFill>
                <a:latin typeface="Calibri"/>
              </a:rPr>
              <a:t>☐  Natural / botanical-forward formulas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2569463"/>
            <a:ext cx="5029200" cy="292608"/>
          </a:xfrm>
          <a:prstGeom prst="rect">
            <a:avLst/>
          </a:prstGeom>
          <a:solidFill>
            <a:srgbClr val="F5F3EF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4048" y="2606039"/>
            <a:ext cx="4846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C1C1C"/>
                </a:solidFill>
                <a:latin typeface="Calibri"/>
              </a:rPr>
              <a:t>☐  Science-first — proven clinical actives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2916936"/>
            <a:ext cx="5029200" cy="292608"/>
          </a:xfrm>
          <a:prstGeom prst="rect">
            <a:avLst/>
          </a:prstGeom>
          <a:solidFill>
            <a:srgbClr val="F5F3EF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84048" y="2953512"/>
            <a:ext cx="4846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C1C1C"/>
                </a:solidFill>
                <a:latin typeface="Calibri"/>
              </a:rPr>
              <a:t>☐  Fragrance-free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3264408"/>
            <a:ext cx="5029200" cy="292608"/>
          </a:xfrm>
          <a:prstGeom prst="rect">
            <a:avLst/>
          </a:prstGeom>
          <a:solidFill>
            <a:srgbClr val="F5F3EF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84048" y="3300984"/>
            <a:ext cx="4846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C1C1C"/>
                </a:solidFill>
                <a:latin typeface="Calibri"/>
              </a:rPr>
              <a:t>☐  Vegan / cruelty-free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3611879"/>
            <a:ext cx="5029200" cy="292608"/>
          </a:xfrm>
          <a:prstGeom prst="rect">
            <a:avLst/>
          </a:prstGeom>
          <a:solidFill>
            <a:srgbClr val="F5F3EF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4048" y="3648456"/>
            <a:ext cx="4846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C1C1C"/>
                </a:solidFill>
                <a:latin typeface="Calibri"/>
              </a:rPr>
              <a:t>☐  Sustainably sourced ingredients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3959352"/>
            <a:ext cx="5029200" cy="292608"/>
          </a:xfrm>
          <a:prstGeom prst="rect">
            <a:avLst/>
          </a:prstGeom>
          <a:solidFill>
            <a:srgbClr val="F5F3EF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84048" y="3995928"/>
            <a:ext cx="4846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C1C1C"/>
                </a:solidFill>
                <a:latin typeface="Calibri"/>
              </a:rPr>
              <a:t>☐  I don't have strong preferences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69280" y="1051560"/>
            <a:ext cx="6245352" cy="274320"/>
          </a:xfrm>
          <a:prstGeom prst="rect">
            <a:avLst/>
          </a:prstGeom>
          <a:solidFill>
            <a:srgbClr val="4A7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760720" y="1097280"/>
            <a:ext cx="60624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+ Why We Ask: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669280" y="1371600"/>
            <a:ext cx="6245352" cy="733806"/>
          </a:xfrm>
          <a:prstGeom prst="rect">
            <a:avLst/>
          </a:prstGeom>
          <a:solidFill>
            <a:srgbClr val="F8F6F2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760720" y="1426464"/>
            <a:ext cx="6062472" cy="6423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C1C1C"/>
                </a:solidFill>
                <a:latin typeface="Calibri"/>
              </a:rPr>
              <a:t>Your values shape which formulas feel right for you. Atelier Rusalka is built on Eastern European botanical heritage with clinically proven actives — but we want to align with your personal priorities.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69280" y="2242566"/>
            <a:ext cx="6245352" cy="256032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760720" y="2279142"/>
            <a:ext cx="60624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8A84B"/>
                </a:solidFill>
                <a:latin typeface="Calibri"/>
              </a:rPr>
              <a:t>RECOMMENDATION LOGIC (for developer):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669280" y="2535174"/>
            <a:ext cx="6245352" cy="956201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760720" y="2590038"/>
            <a:ext cx="6062472" cy="8647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CCCCC"/>
                </a:solidFill>
                <a:latin typeface="Calibri"/>
              </a:rPr>
              <a:t>Fragrance-free → F0 variants only. Natural-forward → highlight botanical extracts in recommendation. Science-first → emphasise clinical actives. Clean beauty → already compliant (no parabens/SLS in any formula). Vegan → flag any non-vegan ingredient exclusions.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4320" y="658368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BBBBBB"/>
                </a:solidFill>
                <a:latin typeface="Calibri"/>
              </a:rPr>
              <a:t>Atelier Rusalka  ·  Consultation Quiz  ·  Q25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02952" y="658368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BBBBBB"/>
                </a:solidFill>
                <a:latin typeface="Calibri"/>
              </a:rPr>
              <a:t>Page 27 of 35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4A7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0972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SECTION 3 — YOUR ROUTINE &amp; PREFERENCES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60152" y="109728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  <a:latin typeface="Calibri"/>
              </a:rPr>
              <a:t>Q26 of 30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658368"/>
            <a:ext cx="1645920" cy="256032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676656"/>
            <a:ext cx="15544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555555"/>
                </a:solidFill>
                <a:latin typeface="Calibri"/>
              </a:rPr>
              <a:t>UI: Scale (1–5)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03120" y="658368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A7C4E"/>
                </a:solidFill>
                <a:latin typeface="Calibri"/>
              </a:rPr>
              <a:t>Q26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1051560"/>
            <a:ext cx="7498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C1C1C"/>
                </a:solidFill>
                <a:latin typeface="Georgia"/>
              </a:rPr>
              <a:t>How adventurous are you with skincare ingredients?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947672"/>
            <a:ext cx="4480560" cy="36576"/>
          </a:xfrm>
          <a:prstGeom prst="rect">
            <a:avLst/>
          </a:prstGeom>
          <a:solidFill>
            <a:srgbClr val="BBB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874519"/>
            <a:ext cx="182880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1C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577340" y="1874519"/>
            <a:ext cx="182880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1C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697480" y="1874519"/>
            <a:ext cx="182880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1C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817620" y="1874519"/>
            <a:ext cx="182880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1C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937760" y="1874519"/>
            <a:ext cx="182880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1C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148839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  <a:latin typeface="Calibri"/>
              </a:rPr>
              <a:t>Very cautious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31720" y="2148839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555555"/>
                </a:solidFill>
                <a:latin typeface="Calibri"/>
              </a:rPr>
              <a:t>Open to trying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31920" y="2148839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555555"/>
                </a:solidFill>
                <a:latin typeface="Calibri"/>
              </a:rPr>
              <a:t>I'll try anything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0" y="1051560"/>
            <a:ext cx="6245352" cy="274320"/>
          </a:xfrm>
          <a:prstGeom prst="rect">
            <a:avLst/>
          </a:prstGeom>
          <a:solidFill>
            <a:srgbClr val="4A7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60720" y="1097280"/>
            <a:ext cx="60624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+ Why We Ask: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0" y="1371600"/>
            <a:ext cx="6245352" cy="630936"/>
          </a:xfrm>
          <a:prstGeom prst="rect">
            <a:avLst/>
          </a:prstGeom>
          <a:solidFill>
            <a:srgbClr val="F8F6F2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0720" y="1426464"/>
            <a:ext cx="6062472" cy="53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C1C1C"/>
                </a:solidFill>
                <a:latin typeface="Calibri"/>
              </a:rPr>
              <a:t>This helps us gauge whether to recommend gentler, well-known actives or more cutting-edge ingredients like azeloglycine, bakuchiol, or encapsulated retinol.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0" y="2139696"/>
            <a:ext cx="6245352" cy="256032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60720" y="2176272"/>
            <a:ext cx="60624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8A84B"/>
                </a:solidFill>
                <a:latin typeface="Calibri"/>
              </a:rPr>
              <a:t>RECOMMENDATION LOGIC (for developer):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69280" y="2432303"/>
            <a:ext cx="6245352" cy="755033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760720" y="2487168"/>
            <a:ext cx="6062472" cy="6635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CCCCC"/>
                </a:solidFill>
                <a:latin typeface="Calibri"/>
              </a:rPr>
              <a:t>Cautious (1–2) → stick to classic, well-tolerated actives (panthenol, niacinamide, HA). Adventurous (4–5) → can introduce newer actives (bakuchiol, ectoin, azeloglycine, HPR retinoid).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4320" y="658368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BBBBBB"/>
                </a:solidFill>
                <a:latin typeface="Calibri"/>
              </a:rPr>
              <a:t>Atelier Rusalka  ·  Consultation Quiz  ·  Q26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02952" y="658368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BBBBBB"/>
                </a:solidFill>
                <a:latin typeface="Calibri"/>
              </a:rPr>
              <a:t>Page 28 of 35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4A7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0972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SECTION 3 — YOUR ROUTINE &amp; PREFERENCES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60152" y="109728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  <a:latin typeface="Calibri"/>
              </a:rPr>
              <a:t>Q27 of 30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658368"/>
            <a:ext cx="1645920" cy="256032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676656"/>
            <a:ext cx="15544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555555"/>
                </a:solidFill>
                <a:latin typeface="Calibri"/>
              </a:rPr>
              <a:t>UI: Single Select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03120" y="658368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A7C4E"/>
                </a:solidFill>
                <a:latin typeface="Calibri"/>
              </a:rPr>
              <a:t>Q27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1051560"/>
            <a:ext cx="7498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C1C1C"/>
                </a:solidFill>
                <a:latin typeface="Georgia"/>
              </a:rPr>
              <a:t>Have you used retinol or retinoids before?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600200"/>
            <a:ext cx="5029200" cy="329184"/>
          </a:xfrm>
          <a:prstGeom prst="rect">
            <a:avLst/>
          </a:prstGeom>
          <a:solidFill>
            <a:srgbClr val="F5F3EF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8" y="1655064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C1C1C"/>
                </a:solidFill>
                <a:latin typeface="Calibri"/>
              </a:rPr>
              <a:t>○  Never — I'm a retinol beginner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984248"/>
            <a:ext cx="5029200" cy="329184"/>
          </a:xfrm>
          <a:prstGeom prst="rect">
            <a:avLst/>
          </a:prstGeom>
          <a:solidFill>
            <a:srgbClr val="F5F3EF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048" y="2039112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C1C1C"/>
                </a:solidFill>
                <a:latin typeface="Calibri"/>
              </a:rPr>
              <a:t>○  Tried once or twice — didn't stick with it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2368296"/>
            <a:ext cx="5029200" cy="329184"/>
          </a:xfrm>
          <a:prstGeom prst="rect">
            <a:avLst/>
          </a:prstGeom>
          <a:solidFill>
            <a:srgbClr val="F5F3EF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4048" y="2423160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C1C1C"/>
                </a:solidFill>
                <a:latin typeface="Calibri"/>
              </a:rPr>
              <a:t>○  Yes, occasionally — I use it a few times a month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2752344"/>
            <a:ext cx="5029200" cy="329184"/>
          </a:xfrm>
          <a:prstGeom prst="rect">
            <a:avLst/>
          </a:prstGeom>
          <a:solidFill>
            <a:srgbClr val="F5F3EF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4048" y="2807208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C1C1C"/>
                </a:solidFill>
                <a:latin typeface="Calibri"/>
              </a:rPr>
              <a:t>○  Yes, regularly — it's part of my routine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3136391"/>
            <a:ext cx="5029200" cy="329184"/>
          </a:xfrm>
          <a:prstGeom prst="rect">
            <a:avLst/>
          </a:prstGeom>
          <a:solidFill>
            <a:srgbClr val="F5F3EF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84048" y="3191256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C1C1C"/>
                </a:solidFill>
                <a:latin typeface="Calibri"/>
              </a:rPr>
              <a:t>○  I use prescription-strength retinoids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0" y="1051560"/>
            <a:ext cx="6245352" cy="274320"/>
          </a:xfrm>
          <a:prstGeom prst="rect">
            <a:avLst/>
          </a:prstGeom>
          <a:solidFill>
            <a:srgbClr val="4A7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60720" y="1097280"/>
            <a:ext cx="60624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+ Why We Ask: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0" y="1371600"/>
            <a:ext cx="6245352" cy="676656"/>
          </a:xfrm>
          <a:prstGeom prst="rect">
            <a:avLst/>
          </a:prstGeom>
          <a:solidFill>
            <a:srgbClr val="F8F6F2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760720" y="1426464"/>
            <a:ext cx="6062472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C1C1C"/>
                </a:solidFill>
                <a:latin typeface="Calibri"/>
              </a:rPr>
              <a:t>Retinol tolerance is built over time. Starting too strong causes irritation, peeling, and sensitivity. We'll match the retinoid type and concentration to your experience level.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0" y="2185416"/>
            <a:ext cx="6245352" cy="256032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760720" y="2221992"/>
            <a:ext cx="60624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8A84B"/>
                </a:solidFill>
                <a:latin typeface="Calibri"/>
              </a:rPr>
              <a:t>RECOMMENDATION LOGIC (for developer):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0" y="2478024"/>
            <a:ext cx="6245352" cy="739357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760720" y="2532888"/>
            <a:ext cx="6062472" cy="6479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CCCCC"/>
                </a:solidFill>
                <a:latin typeface="Calibri"/>
              </a:rPr>
              <a:t>Beginner → bakuchiol (SO5) or low-dose HPR (SO4). Occasional → encapsulated retinol (SD9). Regular → full retinol formulas. Prescription → they may not need our retinol products.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4320" y="658368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BBBBBB"/>
                </a:solidFill>
                <a:latin typeface="Calibri"/>
              </a:rPr>
              <a:t>Atelier Rusalka  ·  Consultation Quiz  ·  Q27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02952" y="658368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BBBBBB"/>
                </a:solidFill>
                <a:latin typeface="Calibri"/>
              </a:rPr>
              <a:t>Page 29 of 35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4A7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0972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SECTION 3 — YOUR ROUTINE &amp; PREFERENCES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60152" y="109728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  <a:latin typeface="Calibri"/>
              </a:rPr>
              <a:t>Q28 of 30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658368"/>
            <a:ext cx="1645920" cy="256032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676656"/>
            <a:ext cx="15544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555555"/>
                </a:solidFill>
                <a:latin typeface="Calibri"/>
              </a:rPr>
              <a:t>UI: Single Select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03120" y="658368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A7C4E"/>
                </a:solidFill>
                <a:latin typeface="Calibri"/>
              </a:rPr>
              <a:t>Q28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1051560"/>
            <a:ext cx="7498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C1C1C"/>
                </a:solidFill>
                <a:latin typeface="Georgia"/>
              </a:rPr>
              <a:t>How much time do you spend on your skincare routine?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600200"/>
            <a:ext cx="5029200" cy="329184"/>
          </a:xfrm>
          <a:prstGeom prst="rect">
            <a:avLst/>
          </a:prstGeom>
          <a:solidFill>
            <a:srgbClr val="F5F3EF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8" y="1655064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C1C1C"/>
                </a:solidFill>
                <a:latin typeface="Calibri"/>
              </a:rPr>
              <a:t>○  Under 2 minutes — I want it fast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984248"/>
            <a:ext cx="5029200" cy="329184"/>
          </a:xfrm>
          <a:prstGeom prst="rect">
            <a:avLst/>
          </a:prstGeom>
          <a:solidFill>
            <a:srgbClr val="F5F3EF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048" y="2039112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C1C1C"/>
                </a:solidFill>
                <a:latin typeface="Calibri"/>
              </a:rPr>
              <a:t>○  2–5 minutes — quick but considered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2368296"/>
            <a:ext cx="5029200" cy="329184"/>
          </a:xfrm>
          <a:prstGeom prst="rect">
            <a:avLst/>
          </a:prstGeom>
          <a:solidFill>
            <a:srgbClr val="F5F3EF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4048" y="2423160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C1C1C"/>
                </a:solidFill>
                <a:latin typeface="Calibri"/>
              </a:rPr>
              <a:t>○  5–10 minutes — I enjoy the process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2752344"/>
            <a:ext cx="5029200" cy="329184"/>
          </a:xfrm>
          <a:prstGeom prst="rect">
            <a:avLst/>
          </a:prstGeom>
          <a:solidFill>
            <a:srgbClr val="F5F3EF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4048" y="2807208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C1C1C"/>
                </a:solidFill>
                <a:latin typeface="Calibri"/>
              </a:rPr>
              <a:t>○  10+ minutes — skincare is my ritual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0" y="1051560"/>
            <a:ext cx="6245352" cy="274320"/>
          </a:xfrm>
          <a:prstGeom prst="rect">
            <a:avLst/>
          </a:prstGeom>
          <a:solidFill>
            <a:srgbClr val="4A7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60720" y="1097280"/>
            <a:ext cx="60624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+ Why We Ask: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0" y="1371600"/>
            <a:ext cx="6245352" cy="534924"/>
          </a:xfrm>
          <a:prstGeom prst="rect">
            <a:avLst/>
          </a:prstGeom>
          <a:solidFill>
            <a:srgbClr val="F8F6F2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60720" y="1426464"/>
            <a:ext cx="6062472" cy="4434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C1C1C"/>
                </a:solidFill>
                <a:latin typeface="Calibri"/>
              </a:rPr>
              <a:t>If you're a 2-minute person, we won't recommend 5 products. Your routine should feel effortless, not like a chore.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0" y="2043684"/>
            <a:ext cx="6245352" cy="256032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760720" y="2080260"/>
            <a:ext cx="60624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8A84B"/>
                </a:solidFill>
                <a:latin typeface="Calibri"/>
              </a:rPr>
              <a:t>RECOMMENDATION LOGIC (for developer):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0" y="2336291"/>
            <a:ext cx="6245352" cy="608729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760720" y="2391156"/>
            <a:ext cx="6062472" cy="5172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CCCCC"/>
                </a:solidFill>
                <a:latin typeface="Calibri"/>
              </a:rPr>
              <a:t>Under 2 min → 1–2 product recommendation (multi-benefit formulas). 5+ min → full 3-product regimen with targeted serum layering.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74320" y="658368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BBBBBB"/>
                </a:solidFill>
                <a:latin typeface="Calibri"/>
              </a:rPr>
              <a:t>Atelier Rusalka  ·  Consultation Quiz  ·  Q28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02952" y="658368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BBBBBB"/>
                </a:solidFill>
                <a:latin typeface="Calibri"/>
              </a:rPr>
              <a:t>Page 30 of 35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4A7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0972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SECTION 3 — YOUR ROUTINE &amp; PREFERENCES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60152" y="109728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  <a:latin typeface="Calibri"/>
              </a:rPr>
              <a:t>Q29 of 30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658368"/>
            <a:ext cx="1645920" cy="256032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676656"/>
            <a:ext cx="15544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555555"/>
                </a:solidFill>
                <a:latin typeface="Calibri"/>
              </a:rPr>
              <a:t>UI: Multi-Select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03120" y="658368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A7C4E"/>
                </a:solidFill>
                <a:latin typeface="Calibri"/>
              </a:rPr>
              <a:t>Q29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1051560"/>
            <a:ext cx="7498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C1C1C"/>
                </a:solidFill>
                <a:latin typeface="Georgia"/>
              </a:rPr>
              <a:t>Is there anything you'd like to avoid in your products?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1554480"/>
            <a:ext cx="74980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Calibri"/>
              </a:rPr>
              <a:t>Select all that apply.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874519"/>
            <a:ext cx="5029200" cy="292608"/>
          </a:xfrm>
          <a:prstGeom prst="rect">
            <a:avLst/>
          </a:prstGeom>
          <a:solidFill>
            <a:srgbClr val="F5F3EF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4048" y="1911095"/>
            <a:ext cx="4846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C1C1C"/>
                </a:solidFill>
                <a:latin typeface="Calibri"/>
              </a:rPr>
              <a:t>☐  Fragrance / essential oils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2221991"/>
            <a:ext cx="5029200" cy="292608"/>
          </a:xfrm>
          <a:prstGeom prst="rect">
            <a:avLst/>
          </a:prstGeom>
          <a:solidFill>
            <a:srgbClr val="F5F3EF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4048" y="2258568"/>
            <a:ext cx="4846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C1C1C"/>
                </a:solidFill>
                <a:latin typeface="Calibri"/>
              </a:rPr>
              <a:t>☐  Retinol / retinoids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2569463"/>
            <a:ext cx="5029200" cy="292608"/>
          </a:xfrm>
          <a:prstGeom prst="rect">
            <a:avLst/>
          </a:prstGeom>
          <a:solidFill>
            <a:srgbClr val="F5F3EF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4048" y="2606039"/>
            <a:ext cx="4846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C1C1C"/>
                </a:solidFill>
                <a:latin typeface="Calibri"/>
              </a:rPr>
              <a:t>☐  Exfoliating acids (AHA, BHA)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2916936"/>
            <a:ext cx="5029200" cy="292608"/>
          </a:xfrm>
          <a:prstGeom prst="rect">
            <a:avLst/>
          </a:prstGeom>
          <a:solidFill>
            <a:srgbClr val="F5F3EF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84048" y="2953512"/>
            <a:ext cx="4846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C1C1C"/>
                </a:solidFill>
                <a:latin typeface="Calibri"/>
              </a:rPr>
              <a:t>☐  Silicones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3264408"/>
            <a:ext cx="5029200" cy="292608"/>
          </a:xfrm>
          <a:prstGeom prst="rect">
            <a:avLst/>
          </a:prstGeom>
          <a:solidFill>
            <a:srgbClr val="F5F3EF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84048" y="3300984"/>
            <a:ext cx="4846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C1C1C"/>
                </a:solidFill>
                <a:latin typeface="Calibri"/>
              </a:rPr>
              <a:t>☐  PEGs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3611879"/>
            <a:ext cx="5029200" cy="292608"/>
          </a:xfrm>
          <a:prstGeom prst="rect">
            <a:avLst/>
          </a:prstGeom>
          <a:solidFill>
            <a:srgbClr val="F5F3EF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4048" y="3648456"/>
            <a:ext cx="4846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C1C1C"/>
                </a:solidFill>
                <a:latin typeface="Calibri"/>
              </a:rPr>
              <a:t>☐  Alcohol (denat.)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3959352"/>
            <a:ext cx="5029200" cy="292608"/>
          </a:xfrm>
          <a:prstGeom prst="rect">
            <a:avLst/>
          </a:prstGeom>
          <a:solidFill>
            <a:srgbClr val="F5F3EF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84048" y="3995928"/>
            <a:ext cx="4846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C1C1C"/>
                </a:solidFill>
                <a:latin typeface="Calibri"/>
              </a:rPr>
              <a:t>☐  Nothing specific — I'm open to everything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69280" y="1051560"/>
            <a:ext cx="6245352" cy="274320"/>
          </a:xfrm>
          <a:prstGeom prst="rect">
            <a:avLst/>
          </a:prstGeom>
          <a:solidFill>
            <a:srgbClr val="4A7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760720" y="1097280"/>
            <a:ext cx="60624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+ Why We Ask: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669280" y="1371600"/>
            <a:ext cx="6245352" cy="662940"/>
          </a:xfrm>
          <a:prstGeom prst="rect">
            <a:avLst/>
          </a:prstGeom>
          <a:solidFill>
            <a:srgbClr val="F8F6F2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760720" y="1426464"/>
            <a:ext cx="6062472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C1C1C"/>
                </a:solidFill>
                <a:latin typeface="Calibri"/>
              </a:rPr>
              <a:t>Personal exclusions are non-negotiable. Whether based on past reactions, personal beliefs, or dermatologist advice — we'll make sure none of these end up in your formula.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69280" y="2171700"/>
            <a:ext cx="6245352" cy="256032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760720" y="2208276"/>
            <a:ext cx="60624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8A84B"/>
                </a:solidFill>
                <a:latin typeface="Calibri"/>
              </a:rPr>
              <a:t>RECOMMENDATION LOGIC (for developer):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669280" y="2464308"/>
            <a:ext cx="6245352" cy="830797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760720" y="2519172"/>
            <a:ext cx="6062472" cy="7393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CCCCC"/>
                </a:solidFill>
                <a:latin typeface="Calibri"/>
              </a:rPr>
              <a:t>Each exclusion acts as a FILTER on the formula pool. Fragrance → F0 only. Retinol → exclude SO4, SD4, SD9, CO12. BHA → exclude SO1. PEGs → exclude CD2, CD3, CD7, CD9, CD10, CD12. Silicones → already silicone-free.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4320" y="658368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BBBBBB"/>
                </a:solidFill>
                <a:latin typeface="Calibri"/>
              </a:rPr>
              <a:t>Atelier Rusalka  ·  Consultation Quiz  ·  Q29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02952" y="658368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BBBBBB"/>
                </a:solidFill>
                <a:latin typeface="Calibri"/>
              </a:rPr>
              <a:t>Page 31 of 35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4A7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0972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SECTION 3 — YOUR ROUTINE &amp; PREFERENCES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60152" y="109728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  <a:latin typeface="Calibri"/>
              </a:rPr>
              <a:t>Q30 of 30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658368"/>
            <a:ext cx="1645920" cy="256032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676656"/>
            <a:ext cx="15544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555555"/>
                </a:solidFill>
                <a:latin typeface="Calibri"/>
              </a:rPr>
              <a:t>UI: Free 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03120" y="658368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A7C4E"/>
                </a:solidFill>
                <a:latin typeface="Calibri"/>
              </a:rPr>
              <a:t>Q30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1051560"/>
            <a:ext cx="7498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C1C1C"/>
                </a:solidFill>
                <a:latin typeface="Georgia"/>
              </a:rPr>
              <a:t>Is there anything else you'd like us to know?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1554480"/>
            <a:ext cx="74980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Calibri"/>
              </a:rPr>
              <a:t>Tell us about specific goals, skin history, dermatologist advice, or anything that didn't fit the previous questions.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874519"/>
            <a:ext cx="5029200" cy="1828800"/>
          </a:xfrm>
          <a:prstGeom prst="rect">
            <a:avLst/>
          </a:prstGeom>
          <a:solidFill>
            <a:srgbClr val="F5F3EF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79" y="2011679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BBBBBB"/>
                </a:solidFill>
                <a:latin typeface="Calibri"/>
              </a:rPr>
              <a:t>User types here...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0" y="1051560"/>
            <a:ext cx="6245352" cy="274320"/>
          </a:xfrm>
          <a:prstGeom prst="rect">
            <a:avLst/>
          </a:prstGeom>
          <a:solidFill>
            <a:srgbClr val="4A7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60720" y="1097280"/>
            <a:ext cx="60624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+ Why We Ask: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0" y="1371600"/>
            <a:ext cx="6245352" cy="553212"/>
          </a:xfrm>
          <a:prstGeom prst="rect">
            <a:avLst/>
          </a:prstGeom>
          <a:solidFill>
            <a:srgbClr val="F8F6F2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760720" y="1426464"/>
            <a:ext cx="6062472" cy="4617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C1C1C"/>
                </a:solidFill>
                <a:latin typeface="Calibri"/>
              </a:rPr>
              <a:t>Skin is complex and personal. A quiz can't capture everything — this is your space to tell us what makes your skin unique.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0" y="2061972"/>
            <a:ext cx="6245352" cy="256032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760720" y="2098548"/>
            <a:ext cx="60624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8A84B"/>
                </a:solidFill>
                <a:latin typeface="Calibri"/>
              </a:rPr>
              <a:t>RECOMMENDATION LOGIC (for developer):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0" y="2354579"/>
            <a:ext cx="6245352" cy="799446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60720" y="2409444"/>
            <a:ext cx="6062472" cy="7080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CCCCC"/>
                </a:solidFill>
                <a:latin typeface="Calibri"/>
              </a:rPr>
              <a:t>Free-text input parsed by recommendation engine (or reviewed manually in v1). Keywords flagged: 'dermatologist', 'medication', 'allergy', 'pregnancy', 'condition'. Used as a qualitative override layer.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4320" y="658368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BBBBBB"/>
                </a:solidFill>
                <a:latin typeface="Calibri"/>
              </a:rPr>
              <a:t>Atelier Rusalka  ·  Consultation Quiz  ·  Q30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02952" y="658368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BBBBBB"/>
                </a:solidFill>
                <a:latin typeface="Calibri"/>
              </a:rPr>
              <a:t>Page 32 of 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8A84B"/>
                </a:solidFill>
                <a:latin typeface="Calibri"/>
              </a:rPr>
              <a:t>RECOMMENDATION ENGINE LOGIC SUMMARY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868680"/>
            <a:ext cx="11612880" cy="822960"/>
          </a:xfrm>
          <a:prstGeom prst="rect">
            <a:avLst/>
          </a:prstGeom>
          <a:noFill/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9144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C1C1C"/>
                </a:solidFill>
                <a:latin typeface="Calibri"/>
              </a:rPr>
              <a:t>Step 1: Skin Type Classification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91440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1A5F7A"/>
                </a:solidFill>
                <a:latin typeface="Calibri"/>
              </a:rPr>
              <a:t>Q11 + Q14 validation → PRIMARY ROUTE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23444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55555"/>
                </a:solidFill>
                <a:latin typeface="Calibri"/>
              </a:rPr>
              <a:t>Oily → O-base formulas  |  Dry → D-base formulas  |  Combination → C-base formulas  |  Sensitive → S-base formulas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764792"/>
            <a:ext cx="11612880" cy="822960"/>
          </a:xfrm>
          <a:prstGeom prst="rect">
            <a:avLst/>
          </a:prstGeom>
          <a:noFill/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181051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C1C1C"/>
                </a:solidFill>
                <a:latin typeface="Calibri"/>
              </a:rPr>
              <a:t>Step 2: Concern Mapping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1810512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1A5F7A"/>
                </a:solidFill>
                <a:latin typeface="Calibri"/>
              </a:rPr>
              <a:t>Q12 + Q15 + Q17 → ACTIVE SELECTION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2130552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55555"/>
                </a:solidFill>
                <a:latin typeface="Calibri"/>
              </a:rPr>
              <a:t>Each concern maps to specific formula codes and active ingredients. Top concerns from Q24 ranking get priority.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2660904"/>
            <a:ext cx="11612880" cy="822960"/>
          </a:xfrm>
          <a:prstGeom prst="rect">
            <a:avLst/>
          </a:prstGeom>
          <a:noFill/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2706624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C1C1C"/>
                </a:solidFill>
                <a:latin typeface="Calibri"/>
              </a:rPr>
              <a:t>Step 3: Lifestyle Modifiers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2706624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1A5F7A"/>
                </a:solidFill>
                <a:latin typeface="Calibri"/>
              </a:rPr>
              <a:t>Q3–Q9 → FORMULA ADJUSTMENT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3026664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55555"/>
                </a:solidFill>
                <a:latin typeface="Calibri"/>
              </a:rPr>
              <a:t>Environment, diet, stress, sleep, and sun exposure adjust active concentrations and add/remove supporting ingredients.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3557016"/>
            <a:ext cx="11612880" cy="822960"/>
          </a:xfrm>
          <a:prstGeom prst="rect">
            <a:avLst/>
          </a:prstGeom>
          <a:noFill/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" y="3602736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C1C1C"/>
                </a:solidFill>
                <a:latin typeface="Calibri"/>
              </a:rPr>
              <a:t>Step 4: Safety Filters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0" y="3602736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1A5F7A"/>
                </a:solidFill>
                <a:latin typeface="Calibri"/>
              </a:rPr>
              <a:t>Q10 + Q16 + Q20 + Q29 → HARD EXCLUSIONS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3922776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55555"/>
                </a:solidFill>
                <a:latin typeface="Calibri"/>
              </a:rPr>
              <a:t>Pregnancy, conditions, allergies, and ingredient exclusions REMOVE formulas from the candidate pool. Non-negotiable.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4453128"/>
            <a:ext cx="11612880" cy="822960"/>
          </a:xfrm>
          <a:prstGeom prst="rect">
            <a:avLst/>
          </a:prstGeom>
          <a:noFill/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80" y="449884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C1C1C"/>
                </a:solidFill>
                <a:latin typeface="Calibri"/>
              </a:rPr>
              <a:t>Step 5: Preference Matching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0" y="4498848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1A5F7A"/>
                </a:solidFill>
                <a:latin typeface="Calibri"/>
              </a:rPr>
              <a:t>Q21–Q23 + Q25–Q28 → FORMAT &amp; TEXTURE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" y="4818888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55555"/>
                </a:solidFill>
                <a:latin typeface="Calibri"/>
              </a:rPr>
              <a:t>Routine complexity, texture preference, cleanser format, ingredient philosophy, retinol experience → final product format selection.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5349240"/>
            <a:ext cx="11612880" cy="822960"/>
          </a:xfrm>
          <a:prstGeom prst="rect">
            <a:avLst/>
          </a:prstGeom>
          <a:noFill/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480" y="5394959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C1C1C"/>
                </a:solidFill>
                <a:latin typeface="Calibri"/>
              </a:rPr>
              <a:t>Step 6: Output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0" y="5394959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1A5F7A"/>
                </a:solidFill>
                <a:latin typeface="Calibri"/>
              </a:rPr>
              <a:t>Personalised regimen of 1–3 products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" y="571500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55555"/>
                </a:solidFill>
                <a:latin typeface="Calibri"/>
              </a:rPr>
              <a:t>Cleanser (matched to format preference) + Serum (matched to primary concern) + Moisturiser (matched to texture preference). Each with F0/F1/F2 fragrance variant.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